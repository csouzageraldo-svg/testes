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9601200" y="0"/>
            <a:ext cx="2587752" cy="2587752"/>
          </a:xfrm>
          <a:prstGeom prst="rect">
            <a:avLst/>
          </a:prstGeom>
          <a:solidFill>
            <a:srgbClr val="FFD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4572000"/>
            <a:ext cx="6858000" cy="2286000"/>
          </a:xfrm>
          <a:prstGeom prst="rect">
            <a:avLst/>
          </a:prstGeom>
          <a:solidFill>
            <a:srgbClr val="14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0058400" y="5029200"/>
            <a:ext cx="2130552" cy="1828800"/>
          </a:xfrm>
          <a:prstGeom prst="rect">
            <a:avLst/>
          </a:prstGeom>
          <a:solidFill>
            <a:srgbClr val="F4F4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logo_pe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548640"/>
            <a:ext cx="696018" cy="64008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548640" y="1371600"/>
            <a:ext cx="1463040" cy="365760"/>
          </a:xfrm>
          <a:prstGeom prst="roundRect">
            <a:avLst>
              <a:gd name="adj" fmla="val 50000"/>
            </a:avLst>
          </a:prstGeom>
          <a:solidFill>
            <a:srgbClr val="14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389888"/>
            <a:ext cx="1463040" cy="365760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ctr"/>
            <a:r>
              <a:rPr sz="900" b="1">
                <a:solidFill>
                  <a:srgbClr val="FFD400"/>
                </a:solidFill>
                <a:latin typeface="Calibri"/>
              </a:rPr>
              <a:t>AI - FIRST  TRANSFORMATION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194560"/>
            <a:ext cx="10058400" cy="45720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400" b="1">
                <a:solidFill>
                  <a:srgbClr val="8A8A8A"/>
                </a:solidFill>
                <a:latin typeface="Calibri"/>
              </a:rPr>
              <a:t>APRESENTAÇÃO  EXECUTIVA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651760"/>
            <a:ext cx="10058400" cy="146304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7600" b="1">
                <a:solidFill>
                  <a:srgbClr val="1A1A1A"/>
                </a:solidFill>
                <a:latin typeface="Calibri"/>
              </a:rPr>
              <a:t>+Pet  </a:t>
            </a:r>
            <a:r>
              <a:rPr sz="7600" b="1">
                <a:solidFill>
                  <a:srgbClr val="1A1A1A"/>
                </a:solidFill>
                <a:latin typeface="Calibri"/>
              </a:rPr>
              <a:t>AI-First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4160520"/>
            <a:ext cx="1828800" cy="109728"/>
          </a:xfrm>
          <a:prstGeom prst="rect">
            <a:avLst/>
          </a:prstGeom>
          <a:solidFill>
            <a:srgbClr val="FFD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4343400"/>
            <a:ext cx="7772400" cy="45720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600" b="0">
                <a:solidFill>
                  <a:srgbClr val="4A4A4A"/>
                </a:solidFill>
                <a:latin typeface="Calibri"/>
              </a:rPr>
              <a:t>Blueprint de transformação · Squad · Método · Expectativas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4800600"/>
            <a:ext cx="6400800" cy="45720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200" b="1">
                <a:solidFill>
                  <a:srgbClr val="FFD400"/>
                </a:solidFill>
                <a:latin typeface="Calibri"/>
              </a:rPr>
              <a:t>FRAMEWORK   ·   ROADMAP   ·   GOVERNANÇA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5943600"/>
            <a:ext cx="6400800" cy="45720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Calibri"/>
              </a:rPr>
              <a:t>Maio · 2026   ·   v1.0   ·   Diretoria Receita &amp; Inovação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92640" y="365760"/>
            <a:ext cx="2377440" cy="1828800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ctr"/>
            <a:r>
              <a:rPr sz="3600" b="1">
                <a:solidFill>
                  <a:srgbClr val="141414"/>
                </a:solidFill>
                <a:latin typeface="Calibri"/>
              </a:rPr>
              <a:t>AIFT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502920"/>
            <a:ext cx="73152" cy="502920"/>
          </a:xfrm>
          <a:prstGeom prst="rect">
            <a:avLst/>
          </a:prstGeom>
          <a:solidFill>
            <a:srgbClr val="FFD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457200"/>
            <a:ext cx="7315200" cy="32004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200" b="1">
                <a:solidFill>
                  <a:srgbClr val="8A8A8A"/>
                </a:solidFill>
                <a:latin typeface="Calibri"/>
              </a:rPr>
              <a:t>SUMÁRIO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713232"/>
            <a:ext cx="10058400" cy="64008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3200" b="1">
                <a:solidFill>
                  <a:srgbClr val="1A1A1A"/>
                </a:solidFill>
                <a:latin typeface="Calibri"/>
              </a:rPr>
              <a:t>O que você verá nesta sessão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828800"/>
            <a:ext cx="5394960" cy="777240"/>
          </a:xfrm>
          <a:prstGeom prst="roundRect">
            <a:avLst>
              <a:gd name="adj" fmla="val 15000"/>
            </a:avLst>
          </a:prstGeom>
          <a:solidFill>
            <a:srgbClr val="F4F4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02920" y="1828800"/>
            <a:ext cx="777240" cy="777240"/>
          </a:xfrm>
          <a:prstGeom prst="roundRect">
            <a:avLst>
              <a:gd name="adj" fmla="val 15000"/>
            </a:avLst>
          </a:prstGeom>
          <a:solidFill>
            <a:srgbClr val="14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1828800"/>
            <a:ext cx="777240" cy="777240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ctr"/>
            <a:r>
              <a:rPr sz="2600" b="1">
                <a:solidFill>
                  <a:srgbClr val="FFD400"/>
                </a:solidFill>
                <a:latin typeface="Calibri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63040" y="1938528"/>
            <a:ext cx="4389120" cy="41148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800" b="1">
                <a:solidFill>
                  <a:srgbClr val="1A1A1A"/>
                </a:solidFill>
                <a:latin typeface="Calibri"/>
              </a:rPr>
              <a:t>O Projeto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63040" y="2267712"/>
            <a:ext cx="4389120" cy="32004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100" b="0">
                <a:solidFill>
                  <a:srgbClr val="8A8A8A"/>
                </a:solidFill>
                <a:latin typeface="Calibri"/>
              </a:rPr>
              <a:t>+Pet AI-First em uma página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72200" y="1828800"/>
            <a:ext cx="5394960" cy="777240"/>
          </a:xfrm>
          <a:prstGeom prst="roundRect">
            <a:avLst>
              <a:gd name="adj" fmla="val 15000"/>
            </a:avLst>
          </a:prstGeom>
          <a:solidFill>
            <a:srgbClr val="F4F4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172200" y="1828800"/>
            <a:ext cx="777240" cy="777240"/>
          </a:xfrm>
          <a:prstGeom prst="roundRect">
            <a:avLst>
              <a:gd name="adj" fmla="val 15000"/>
            </a:avLst>
          </a:prstGeom>
          <a:solidFill>
            <a:srgbClr val="14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172200" y="1828800"/>
            <a:ext cx="777240" cy="777240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ctr"/>
            <a:r>
              <a:rPr sz="2600" b="1">
                <a:solidFill>
                  <a:srgbClr val="FFD400"/>
                </a:solidFill>
                <a:latin typeface="Calibri"/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132320" y="1938528"/>
            <a:ext cx="4389120" cy="41148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800" b="1">
                <a:solidFill>
                  <a:srgbClr val="1A1A1A"/>
                </a:solidFill>
                <a:latin typeface="Calibri"/>
              </a:rPr>
              <a:t>O que é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132320" y="2267712"/>
            <a:ext cx="4389120" cy="32004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100" b="0">
                <a:solidFill>
                  <a:srgbClr val="8A8A8A"/>
                </a:solidFill>
                <a:latin typeface="Calibri"/>
              </a:rPr>
              <a:t>Princípio, estruturas, equipe e stack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02920" y="2770632"/>
            <a:ext cx="5394960" cy="777240"/>
          </a:xfrm>
          <a:prstGeom prst="roundRect">
            <a:avLst>
              <a:gd name="adj" fmla="val 15000"/>
            </a:avLst>
          </a:prstGeom>
          <a:solidFill>
            <a:srgbClr val="F4F4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502920" y="2770632"/>
            <a:ext cx="777240" cy="777240"/>
          </a:xfrm>
          <a:prstGeom prst="roundRect">
            <a:avLst>
              <a:gd name="adj" fmla="val 15000"/>
            </a:avLst>
          </a:prstGeom>
          <a:solidFill>
            <a:srgbClr val="14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2920" y="2770632"/>
            <a:ext cx="777240" cy="777240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ctr"/>
            <a:r>
              <a:rPr sz="2600" b="1">
                <a:solidFill>
                  <a:srgbClr val="FFD400"/>
                </a:solidFill>
                <a:latin typeface="Calibri"/>
              </a:rP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463040" y="2880360"/>
            <a:ext cx="4389120" cy="41148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800" b="1">
                <a:solidFill>
                  <a:srgbClr val="1A1A1A"/>
                </a:solidFill>
                <a:latin typeface="Calibri"/>
              </a:rPr>
              <a:t>Onde estamos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63040" y="3209544"/>
            <a:ext cx="4389120" cy="32004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100" b="0">
                <a:solidFill>
                  <a:srgbClr val="8A8A8A"/>
                </a:solidFill>
                <a:latin typeface="Calibri"/>
              </a:rPr>
              <a:t>Status do que já foi entregue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72200" y="2770632"/>
            <a:ext cx="5394960" cy="777240"/>
          </a:xfrm>
          <a:prstGeom prst="roundRect">
            <a:avLst>
              <a:gd name="adj" fmla="val 15000"/>
            </a:avLst>
          </a:prstGeom>
          <a:solidFill>
            <a:srgbClr val="F4F4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6172200" y="2770632"/>
            <a:ext cx="777240" cy="777240"/>
          </a:xfrm>
          <a:prstGeom prst="roundRect">
            <a:avLst>
              <a:gd name="adj" fmla="val 15000"/>
            </a:avLst>
          </a:prstGeom>
          <a:solidFill>
            <a:srgbClr val="14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172200" y="2770632"/>
            <a:ext cx="777240" cy="777240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ctr"/>
            <a:r>
              <a:rPr sz="2600" b="1">
                <a:solidFill>
                  <a:srgbClr val="FFD400"/>
                </a:solidFill>
                <a:latin typeface="Calibri"/>
              </a:rPr>
              <a:t>04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132320" y="2880360"/>
            <a:ext cx="4389120" cy="41148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800" b="1">
                <a:solidFill>
                  <a:srgbClr val="1A1A1A"/>
                </a:solidFill>
                <a:latin typeface="Calibri"/>
              </a:rPr>
              <a:t>Método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132320" y="3209544"/>
            <a:ext cx="4389120" cy="32004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100" b="0">
                <a:solidFill>
                  <a:srgbClr val="8A8A8A"/>
                </a:solidFill>
                <a:latin typeface="Calibri"/>
              </a:rPr>
              <a:t>Por área, com alvo e ciclo de inovação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02920" y="3712464"/>
            <a:ext cx="5394960" cy="777240"/>
          </a:xfrm>
          <a:prstGeom prst="roundRect">
            <a:avLst>
              <a:gd name="adj" fmla="val 15000"/>
            </a:avLst>
          </a:prstGeom>
          <a:solidFill>
            <a:srgbClr val="F4F4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502920" y="3712464"/>
            <a:ext cx="777240" cy="777240"/>
          </a:xfrm>
          <a:prstGeom prst="roundRect">
            <a:avLst>
              <a:gd name="adj" fmla="val 15000"/>
            </a:avLst>
          </a:prstGeom>
          <a:solidFill>
            <a:srgbClr val="14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02920" y="3712464"/>
            <a:ext cx="777240" cy="777240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ctr"/>
            <a:r>
              <a:rPr sz="2600" b="1">
                <a:solidFill>
                  <a:srgbClr val="FFD400"/>
                </a:solidFill>
                <a:latin typeface="Calibri"/>
              </a:rPr>
              <a:t>05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463040" y="3822192"/>
            <a:ext cx="4389120" cy="41148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800" b="1">
                <a:solidFill>
                  <a:srgbClr val="1A1A1A"/>
                </a:solidFill>
                <a:latin typeface="Calibri"/>
              </a:rPr>
              <a:t>Célula (Time)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463040" y="4151376"/>
            <a:ext cx="4389120" cy="32004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100" b="0">
                <a:solidFill>
                  <a:srgbClr val="8A8A8A"/>
                </a:solidFill>
                <a:latin typeface="Calibri"/>
              </a:rPr>
              <a:t>Squad fracionado e investimento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172200" y="3712464"/>
            <a:ext cx="5394960" cy="777240"/>
          </a:xfrm>
          <a:prstGeom prst="roundRect">
            <a:avLst>
              <a:gd name="adj" fmla="val 15000"/>
            </a:avLst>
          </a:prstGeom>
          <a:solidFill>
            <a:srgbClr val="F4F4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6172200" y="3712464"/>
            <a:ext cx="777240" cy="777240"/>
          </a:xfrm>
          <a:prstGeom prst="roundRect">
            <a:avLst>
              <a:gd name="adj" fmla="val 15000"/>
            </a:avLst>
          </a:prstGeom>
          <a:solidFill>
            <a:srgbClr val="14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172200" y="3712464"/>
            <a:ext cx="777240" cy="777240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ctr"/>
            <a:r>
              <a:rPr sz="2600" b="1">
                <a:solidFill>
                  <a:srgbClr val="FFD400"/>
                </a:solidFill>
                <a:latin typeface="Calibri"/>
              </a:rPr>
              <a:t>06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132320" y="3822192"/>
            <a:ext cx="4389120" cy="41148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800" b="1">
                <a:solidFill>
                  <a:srgbClr val="1A1A1A"/>
                </a:solidFill>
                <a:latin typeface="Calibri"/>
              </a:rPr>
              <a:t>Ajuste Diretoria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132320" y="4151376"/>
            <a:ext cx="4389120" cy="32004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100" b="0">
                <a:solidFill>
                  <a:srgbClr val="8A8A8A"/>
                </a:solidFill>
                <a:latin typeface="Calibri"/>
              </a:rPr>
              <a:t>Receita &amp; Inovação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502920" y="4654296"/>
            <a:ext cx="5394960" cy="777240"/>
          </a:xfrm>
          <a:prstGeom prst="roundRect">
            <a:avLst>
              <a:gd name="adj" fmla="val 15000"/>
            </a:avLst>
          </a:prstGeom>
          <a:solidFill>
            <a:srgbClr val="F4F4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502920" y="4654296"/>
            <a:ext cx="777240" cy="777240"/>
          </a:xfrm>
          <a:prstGeom prst="roundRect">
            <a:avLst>
              <a:gd name="adj" fmla="val 15000"/>
            </a:avLst>
          </a:prstGeom>
          <a:solidFill>
            <a:srgbClr val="14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02920" y="4654296"/>
            <a:ext cx="777240" cy="777240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ctr"/>
            <a:r>
              <a:rPr sz="2600" b="1">
                <a:solidFill>
                  <a:srgbClr val="FFD400"/>
                </a:solidFill>
                <a:latin typeface="Calibri"/>
              </a:rPr>
              <a:t>07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463040" y="4764024"/>
            <a:ext cx="4389120" cy="41148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800" b="1">
                <a:solidFill>
                  <a:srgbClr val="1A1A1A"/>
                </a:solidFill>
                <a:latin typeface="Calibri"/>
              </a:rPr>
              <a:t>Expectativas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463040" y="5093208"/>
            <a:ext cx="4389120" cy="32004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100" b="0">
                <a:solidFill>
                  <a:srgbClr val="8A8A8A"/>
                </a:solidFill>
                <a:latin typeface="Calibri"/>
              </a:rPr>
              <a:t>Os 5 ganhos esperados</a:t>
            </a:r>
          </a:p>
        </p:txBody>
      </p:sp>
      <p:cxnSp>
        <p:nvCxnSpPr>
          <p:cNvPr id="41" name="Connector 40"/>
          <p:cNvCxnSpPr/>
          <p:nvPr/>
        </p:nvCxnSpPr>
        <p:spPr>
          <a:xfrm>
            <a:off x="457200" y="6446520"/>
            <a:ext cx="11274552" cy="0"/>
          </a:xfrm>
          <a:prstGeom prst="line">
            <a:avLst/>
          </a:prstGeom>
          <a:ln w="9525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42" name="Picture 41" descr="logo_pe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6519672"/>
            <a:ext cx="278407" cy="256032"/>
          </a:xfrm>
          <a:prstGeom prst="rect">
            <a:avLst/>
          </a:prstGeom>
        </p:spPr>
      </p:pic>
      <p:sp>
        <p:nvSpPr>
          <p:cNvPr id="43" name="TextBox 42"/>
          <p:cNvSpPr txBox="1"/>
          <p:nvPr/>
        </p:nvSpPr>
        <p:spPr>
          <a:xfrm>
            <a:off x="1051560" y="6519672"/>
            <a:ext cx="1828800" cy="27432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100" b="1">
                <a:solidFill>
                  <a:srgbClr val="8A8A8A"/>
                </a:solidFill>
                <a:latin typeface="Calibri"/>
              </a:rPr>
              <a:t>|  AIFT</a:t>
            </a:r>
          </a:p>
        </p:txBody>
      </p:sp>
      <p:sp>
        <p:nvSpPr>
          <p:cNvPr id="44" name="Oval 43"/>
          <p:cNvSpPr/>
          <p:nvPr/>
        </p:nvSpPr>
        <p:spPr>
          <a:xfrm>
            <a:off x="6053328" y="6592824"/>
            <a:ext cx="91440" cy="91440"/>
          </a:xfrm>
          <a:prstGeom prst="ellipse">
            <a:avLst/>
          </a:prstGeom>
          <a:solidFill>
            <a:srgbClr val="FFD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10515600" y="6519672"/>
            <a:ext cx="1216152" cy="27432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r"/>
            <a:r>
              <a:rPr sz="1100" b="1">
                <a:solidFill>
                  <a:srgbClr val="8A8A8A"/>
                </a:solidFill>
                <a:latin typeface="Calibri"/>
              </a:rPr>
              <a:t>02 / 11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686800" y="6519672"/>
            <a:ext cx="1828800" cy="27432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r"/>
            <a:r>
              <a:rPr sz="1000" b="0">
                <a:solidFill>
                  <a:srgbClr val="8A8A8A"/>
                </a:solidFill>
                <a:latin typeface="Calibri"/>
              </a:rPr>
              <a:t>Confidencial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502920"/>
            <a:ext cx="73152" cy="502920"/>
          </a:xfrm>
          <a:prstGeom prst="rect">
            <a:avLst/>
          </a:prstGeom>
          <a:solidFill>
            <a:srgbClr val="FFD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457200"/>
            <a:ext cx="7315200" cy="32004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200" b="1">
                <a:solidFill>
                  <a:srgbClr val="8A8A8A"/>
                </a:solidFill>
                <a:latin typeface="Calibri"/>
              </a:rPr>
              <a:t>BLOCO 01 · PROJETO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713232"/>
            <a:ext cx="10058400" cy="64008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3200" b="1">
                <a:solidFill>
                  <a:srgbClr val="1A1A1A"/>
                </a:solidFill>
                <a:latin typeface="Calibri"/>
              </a:rPr>
              <a:t>+Pet AI-First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07040" y="320040"/>
            <a:ext cx="1280160" cy="109728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r"/>
            <a:r>
              <a:rPr sz="8000" b="1">
                <a:solidFill>
                  <a:srgbClr val="F4F4F4"/>
                </a:solidFill>
                <a:latin typeface="Calibri"/>
              </a:rPr>
              <a:t>01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691640"/>
            <a:ext cx="5669280" cy="4526280"/>
          </a:xfrm>
          <a:prstGeom prst="rect">
            <a:avLst/>
          </a:prstGeom>
          <a:solidFill>
            <a:srgbClr val="14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874519"/>
            <a:ext cx="548640" cy="54864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9000" b="1">
                <a:solidFill>
                  <a:srgbClr val="FFD400"/>
                </a:solidFill>
                <a:latin typeface="Calibri"/>
              </a:rPr>
              <a:t>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606040"/>
            <a:ext cx="5212080" cy="228600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2200" b="0">
                <a:solidFill>
                  <a:srgbClr val="FFFFFF"/>
                </a:solidFill>
                <a:latin typeface="Calibri"/>
              </a:rPr>
              <a:t>Tornar a +Pet uma organização </a:t>
            </a:r>
            <a:r>
              <a:rPr sz="2200" b="1">
                <a:solidFill>
                  <a:srgbClr val="FFD400"/>
                </a:solidFill>
                <a:latin typeface="Calibri"/>
              </a:rPr>
              <a:t>AI-First</a:t>
            </a:r>
            <a:r>
              <a:rPr sz="2200" b="0">
                <a:solidFill>
                  <a:srgbClr val="FFFFFF"/>
                </a:solidFill>
                <a:latin typeface="Calibri"/>
              </a:rPr>
              <a:t>, com a </a:t>
            </a:r>
            <a:r>
              <a:rPr sz="2200" b="1">
                <a:solidFill>
                  <a:srgbClr val="FFD400"/>
                </a:solidFill>
                <a:latin typeface="Calibri"/>
              </a:rPr>
              <a:t>AI Delivery Factory</a:t>
            </a:r>
            <a:r>
              <a:rPr sz="2200" b="0">
                <a:solidFill>
                  <a:srgbClr val="FFFFFF"/>
                </a:solidFill>
                <a:latin typeface="Calibri"/>
              </a:rPr>
              <a:t> como motor central de inovação.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5120640"/>
            <a:ext cx="5212080" cy="45720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300" b="0">
                <a:solidFill>
                  <a:srgbClr val="D9D9D9"/>
                </a:solidFill>
                <a:latin typeface="Calibri"/>
              </a:rPr>
              <a:t>Mandato focado em EBIT — não em IA como acessório.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46520" y="1691640"/>
            <a:ext cx="5303520" cy="1371600"/>
          </a:xfrm>
          <a:prstGeom prst="roundRect">
            <a:avLst>
              <a:gd name="adj" fmla="val 10000"/>
            </a:avLst>
          </a:prstGeom>
          <a:solidFill>
            <a:srgbClr val="F4F4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446520" y="1691640"/>
            <a:ext cx="109728" cy="1371600"/>
          </a:xfrm>
          <a:prstGeom prst="rect">
            <a:avLst/>
          </a:prstGeom>
          <a:solidFill>
            <a:srgbClr val="FFD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720840" y="1828800"/>
            <a:ext cx="731520" cy="36576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400" b="1">
                <a:solidFill>
                  <a:srgbClr val="8A8A8A"/>
                </a:solidFill>
                <a:latin typeface="Calibri"/>
              </a:rPr>
              <a:t>01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720840" y="2103120"/>
            <a:ext cx="4937760" cy="41148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800" b="1">
                <a:solidFill>
                  <a:srgbClr val="1A1A1A"/>
                </a:solidFill>
                <a:latin typeface="Calibri"/>
              </a:rPr>
              <a:t>Aumento de Qualidade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720840" y="2532888"/>
            <a:ext cx="4937760" cy="54864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200" b="0">
                <a:solidFill>
                  <a:srgbClr val="4A4A4A"/>
                </a:solidFill>
                <a:latin typeface="Calibri"/>
              </a:rPr>
              <a:t>Menos erro humano, atendimento ultra-personalizado, previsibilidade clínica.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46520" y="3200400"/>
            <a:ext cx="5303520" cy="1371600"/>
          </a:xfrm>
          <a:prstGeom prst="roundRect">
            <a:avLst>
              <a:gd name="adj" fmla="val 10000"/>
            </a:avLst>
          </a:prstGeom>
          <a:solidFill>
            <a:srgbClr val="F4F4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446520" y="3200400"/>
            <a:ext cx="109728" cy="1371600"/>
          </a:xfrm>
          <a:prstGeom prst="rect">
            <a:avLst/>
          </a:prstGeom>
          <a:solidFill>
            <a:srgbClr val="FFD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720840" y="3337560"/>
            <a:ext cx="731520" cy="36576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400" b="1">
                <a:solidFill>
                  <a:srgbClr val="8A8A8A"/>
                </a:solidFill>
                <a:latin typeface="Calibri"/>
              </a:rPr>
              <a:t>02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720840" y="3611880"/>
            <a:ext cx="4937760" cy="41148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800" b="1">
                <a:solidFill>
                  <a:srgbClr val="1A1A1A"/>
                </a:solidFill>
                <a:latin typeface="Calibri"/>
              </a:rPr>
              <a:t>Capacidade de Execução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720840" y="4041648"/>
            <a:ext cx="4937760" cy="54864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200" b="0">
                <a:solidFill>
                  <a:srgbClr val="4A4A4A"/>
                </a:solidFill>
                <a:latin typeface="Calibri"/>
              </a:rPr>
              <a:t>Dobrar produção e atendimento sem inchar a folha corporativa.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46520" y="4709160"/>
            <a:ext cx="5303520" cy="1371600"/>
          </a:xfrm>
          <a:prstGeom prst="roundRect">
            <a:avLst>
              <a:gd name="adj" fmla="val 10000"/>
            </a:avLst>
          </a:prstGeom>
          <a:solidFill>
            <a:srgbClr val="F4F4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446520" y="4709160"/>
            <a:ext cx="109728" cy="1371600"/>
          </a:xfrm>
          <a:prstGeom prst="rect">
            <a:avLst/>
          </a:prstGeom>
          <a:solidFill>
            <a:srgbClr val="FFD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720840" y="4846320"/>
            <a:ext cx="731520" cy="36576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400" b="1">
                <a:solidFill>
                  <a:srgbClr val="8A8A8A"/>
                </a:solidFill>
                <a:latin typeface="Calibri"/>
              </a:rPr>
              <a:t>03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720840" y="5120640"/>
            <a:ext cx="4937760" cy="41148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800" b="1">
                <a:solidFill>
                  <a:srgbClr val="1A1A1A"/>
                </a:solidFill>
                <a:latin typeface="Calibri"/>
              </a:rPr>
              <a:t>Otimização de OPEX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20840" y="5550408"/>
            <a:ext cx="4937760" cy="54864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200" b="0">
                <a:solidFill>
                  <a:srgbClr val="4A4A4A"/>
                </a:solidFill>
                <a:latin typeface="Calibri"/>
              </a:rPr>
              <a:t>Automação de tarefas repetitivas — back-office, auditoria, suporte.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457200" y="6446520"/>
            <a:ext cx="11274552" cy="0"/>
          </a:xfrm>
          <a:prstGeom prst="line">
            <a:avLst/>
          </a:prstGeom>
          <a:ln w="9525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27" name="Picture 26" descr="logo_pe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6519672"/>
            <a:ext cx="278407" cy="256032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1051560" y="6519672"/>
            <a:ext cx="1828800" cy="27432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100" b="1">
                <a:solidFill>
                  <a:srgbClr val="8A8A8A"/>
                </a:solidFill>
                <a:latin typeface="Calibri"/>
              </a:rPr>
              <a:t>|  AIFT</a:t>
            </a:r>
          </a:p>
        </p:txBody>
      </p:sp>
      <p:sp>
        <p:nvSpPr>
          <p:cNvPr id="29" name="Oval 28"/>
          <p:cNvSpPr/>
          <p:nvPr/>
        </p:nvSpPr>
        <p:spPr>
          <a:xfrm>
            <a:off x="6053328" y="6592824"/>
            <a:ext cx="91440" cy="91440"/>
          </a:xfrm>
          <a:prstGeom prst="ellipse">
            <a:avLst/>
          </a:prstGeom>
          <a:solidFill>
            <a:srgbClr val="FFD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515600" y="6519672"/>
            <a:ext cx="1216152" cy="27432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r"/>
            <a:r>
              <a:rPr sz="1100" b="1">
                <a:solidFill>
                  <a:srgbClr val="8A8A8A"/>
                </a:solidFill>
                <a:latin typeface="Calibri"/>
              </a:rPr>
              <a:t>03 / 11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686800" y="6519672"/>
            <a:ext cx="1828800" cy="27432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r"/>
            <a:r>
              <a:rPr sz="1000" b="0">
                <a:solidFill>
                  <a:srgbClr val="8A8A8A"/>
                </a:solidFill>
                <a:latin typeface="Calibri"/>
              </a:rPr>
              <a:t>Confidencial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502920"/>
            <a:ext cx="73152" cy="502920"/>
          </a:xfrm>
          <a:prstGeom prst="rect">
            <a:avLst/>
          </a:prstGeom>
          <a:solidFill>
            <a:srgbClr val="FFD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457200"/>
            <a:ext cx="7315200" cy="32004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200" b="1">
                <a:solidFill>
                  <a:srgbClr val="8A8A8A"/>
                </a:solidFill>
                <a:latin typeface="Calibri"/>
              </a:rPr>
              <a:t>BLOCO 02 · O QUE É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713232"/>
            <a:ext cx="10058400" cy="64008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3200" b="1">
                <a:solidFill>
                  <a:srgbClr val="1A1A1A"/>
                </a:solidFill>
                <a:latin typeface="Calibri"/>
              </a:rPr>
              <a:t>Pensar antes de fazer — sempre com IA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07040" y="320040"/>
            <a:ext cx="1280160" cy="109728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r"/>
            <a:r>
              <a:rPr sz="8000" b="1">
                <a:solidFill>
                  <a:srgbClr val="F4F4F4"/>
                </a:solidFill>
                <a:latin typeface="Calibri"/>
              </a:rPr>
              <a:t>02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691640"/>
            <a:ext cx="11247120" cy="868680"/>
          </a:xfrm>
          <a:prstGeom prst="roundRect">
            <a:avLst>
              <a:gd name="adj" fmla="val 20000"/>
            </a:avLst>
          </a:prstGeom>
          <a:solidFill>
            <a:srgbClr val="F4F4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1691640"/>
            <a:ext cx="164592" cy="868680"/>
          </a:xfrm>
          <a:prstGeom prst="rect">
            <a:avLst/>
          </a:prstGeom>
          <a:solidFill>
            <a:srgbClr val="FFD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1783080"/>
            <a:ext cx="10789920" cy="36576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100" b="1">
                <a:solidFill>
                  <a:srgbClr val="8A8A8A"/>
                </a:solidFill>
                <a:latin typeface="Calibri"/>
              </a:rPr>
              <a:t>PRINCÍPIO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057400"/>
            <a:ext cx="10789920" cy="50292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800" b="0">
                <a:solidFill>
                  <a:srgbClr val="1A1A1A"/>
                </a:solidFill>
                <a:latin typeface="Calibri"/>
              </a:rPr>
              <a:t>Antes de fazer algo, perguntar: </a:t>
            </a:r>
            <a:r>
              <a:rPr sz="1800" b="1">
                <a:solidFill>
                  <a:srgbClr val="1A1A1A"/>
                </a:solidFill>
                <a:latin typeface="Calibri"/>
              </a:rPr>
              <a:t>“como a IA me ajuda nisso?”</a:t>
            </a:r>
            <a:r>
              <a:rPr sz="1800" b="0">
                <a:solidFill>
                  <a:srgbClr val="4A4A4A"/>
                </a:solidFill>
                <a:latin typeface="Calibri"/>
              </a:rPr>
              <a:t>  ·  IA é parte das estruturas, não acessório.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2788920"/>
            <a:ext cx="5532120" cy="32004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200" b="1">
                <a:solidFill>
                  <a:srgbClr val="8A8A8A"/>
                </a:solidFill>
                <a:latin typeface="Calibri"/>
              </a:rPr>
              <a:t>ESTRUTURAS QUE INCORPORAM IA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63640" y="2788920"/>
            <a:ext cx="5532120" cy="32004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200" b="1">
                <a:solidFill>
                  <a:srgbClr val="8A8A8A"/>
                </a:solidFill>
                <a:latin typeface="Calibri"/>
              </a:rPr>
              <a:t>CAMADAS DE GESTÃO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2920" y="3200400"/>
            <a:ext cx="2606040" cy="141732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02920" y="3200400"/>
            <a:ext cx="2606040" cy="91440"/>
          </a:xfrm>
          <a:prstGeom prst="rect">
            <a:avLst/>
          </a:prstGeom>
          <a:solidFill>
            <a:srgbClr val="14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2920" y="3520440"/>
            <a:ext cx="2606040" cy="45720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ctr"/>
            <a:r>
              <a:rPr sz="1800" b="1">
                <a:solidFill>
                  <a:srgbClr val="1A1A1A"/>
                </a:solidFill>
                <a:latin typeface="Calibri"/>
              </a:rPr>
              <a:t>Objetivos</a:t>
            </a:r>
          </a:p>
        </p:txBody>
      </p:sp>
      <p:sp>
        <p:nvSpPr>
          <p:cNvPr id="16" name="Oval 15"/>
          <p:cNvSpPr/>
          <p:nvPr/>
        </p:nvSpPr>
        <p:spPr>
          <a:xfrm>
            <a:off x="1741932" y="4325112"/>
            <a:ext cx="128016" cy="128016"/>
          </a:xfrm>
          <a:prstGeom prst="ellipse">
            <a:avLst/>
          </a:prstGeom>
          <a:solidFill>
            <a:srgbClr val="FFD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3246120" y="3200400"/>
            <a:ext cx="2606040" cy="141732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246120" y="3200400"/>
            <a:ext cx="2606040" cy="91440"/>
          </a:xfrm>
          <a:prstGeom prst="rect">
            <a:avLst/>
          </a:prstGeom>
          <a:solidFill>
            <a:srgbClr val="14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246120" y="3520440"/>
            <a:ext cx="2606040" cy="45720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ctr"/>
            <a:r>
              <a:rPr sz="1800" b="1">
                <a:solidFill>
                  <a:srgbClr val="1A1A1A"/>
                </a:solidFill>
                <a:latin typeface="Calibri"/>
              </a:rPr>
              <a:t>Projetos</a:t>
            </a:r>
          </a:p>
        </p:txBody>
      </p:sp>
      <p:sp>
        <p:nvSpPr>
          <p:cNvPr id="20" name="Oval 19"/>
          <p:cNvSpPr/>
          <p:nvPr/>
        </p:nvSpPr>
        <p:spPr>
          <a:xfrm>
            <a:off x="4485132" y="4325112"/>
            <a:ext cx="128016" cy="128016"/>
          </a:xfrm>
          <a:prstGeom prst="ellipse">
            <a:avLst/>
          </a:prstGeom>
          <a:solidFill>
            <a:srgbClr val="FFD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502920" y="4754880"/>
            <a:ext cx="2606040" cy="141732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02920" y="4754880"/>
            <a:ext cx="2606040" cy="91440"/>
          </a:xfrm>
          <a:prstGeom prst="rect">
            <a:avLst/>
          </a:prstGeom>
          <a:solidFill>
            <a:srgbClr val="14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02920" y="5074920"/>
            <a:ext cx="2606040" cy="45720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ctr"/>
            <a:r>
              <a:rPr sz="1800" b="1">
                <a:solidFill>
                  <a:srgbClr val="1A1A1A"/>
                </a:solidFill>
                <a:latin typeface="Calibri"/>
              </a:rPr>
              <a:t>Processos</a:t>
            </a:r>
          </a:p>
        </p:txBody>
      </p:sp>
      <p:sp>
        <p:nvSpPr>
          <p:cNvPr id="24" name="Oval 23"/>
          <p:cNvSpPr/>
          <p:nvPr/>
        </p:nvSpPr>
        <p:spPr>
          <a:xfrm>
            <a:off x="1741932" y="5879592"/>
            <a:ext cx="128016" cy="128016"/>
          </a:xfrm>
          <a:prstGeom prst="ellipse">
            <a:avLst/>
          </a:prstGeom>
          <a:solidFill>
            <a:srgbClr val="FFD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3246120" y="4754880"/>
            <a:ext cx="2606040" cy="141732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3246120" y="4754880"/>
            <a:ext cx="2606040" cy="91440"/>
          </a:xfrm>
          <a:prstGeom prst="rect">
            <a:avLst/>
          </a:prstGeom>
          <a:solidFill>
            <a:srgbClr val="14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246120" y="5074920"/>
            <a:ext cx="2606040" cy="45720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ctr"/>
            <a:r>
              <a:rPr sz="1800" b="1">
                <a:solidFill>
                  <a:srgbClr val="1A1A1A"/>
                </a:solidFill>
                <a:latin typeface="Calibri"/>
              </a:rPr>
              <a:t>Tarefas</a:t>
            </a:r>
          </a:p>
        </p:txBody>
      </p:sp>
      <p:sp>
        <p:nvSpPr>
          <p:cNvPr id="28" name="Oval 27"/>
          <p:cNvSpPr/>
          <p:nvPr/>
        </p:nvSpPr>
        <p:spPr>
          <a:xfrm>
            <a:off x="4485132" y="5879592"/>
            <a:ext cx="128016" cy="128016"/>
          </a:xfrm>
          <a:prstGeom prst="ellipse">
            <a:avLst/>
          </a:prstGeom>
          <a:solidFill>
            <a:srgbClr val="FFD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6263640" y="3200400"/>
            <a:ext cx="2606040" cy="1417320"/>
          </a:xfrm>
          <a:prstGeom prst="roundRect">
            <a:avLst>
              <a:gd name="adj" fmla="val 15000"/>
            </a:avLst>
          </a:prstGeom>
          <a:solidFill>
            <a:srgbClr val="14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263640" y="3200400"/>
            <a:ext cx="2606040" cy="91440"/>
          </a:xfrm>
          <a:prstGeom prst="rect">
            <a:avLst/>
          </a:prstGeom>
          <a:solidFill>
            <a:srgbClr val="FFD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263640" y="3520440"/>
            <a:ext cx="2606040" cy="45720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Estratégia</a:t>
            </a:r>
          </a:p>
        </p:txBody>
      </p:sp>
      <p:sp>
        <p:nvSpPr>
          <p:cNvPr id="32" name="Oval 31"/>
          <p:cNvSpPr/>
          <p:nvPr/>
        </p:nvSpPr>
        <p:spPr>
          <a:xfrm>
            <a:off x="7502652" y="4325112"/>
            <a:ext cx="128016" cy="128016"/>
          </a:xfrm>
          <a:prstGeom prst="ellipse">
            <a:avLst/>
          </a:prstGeom>
          <a:solidFill>
            <a:srgbClr val="FFD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9006840" y="3200400"/>
            <a:ext cx="2606040" cy="1417320"/>
          </a:xfrm>
          <a:prstGeom prst="roundRect">
            <a:avLst>
              <a:gd name="adj" fmla="val 15000"/>
            </a:avLst>
          </a:prstGeom>
          <a:solidFill>
            <a:srgbClr val="14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9006840" y="3200400"/>
            <a:ext cx="2606040" cy="91440"/>
          </a:xfrm>
          <a:prstGeom prst="rect">
            <a:avLst/>
          </a:prstGeom>
          <a:solidFill>
            <a:srgbClr val="FFD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006840" y="3520440"/>
            <a:ext cx="2606040" cy="45720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Governança</a:t>
            </a:r>
          </a:p>
        </p:txBody>
      </p:sp>
      <p:sp>
        <p:nvSpPr>
          <p:cNvPr id="36" name="Oval 35"/>
          <p:cNvSpPr/>
          <p:nvPr/>
        </p:nvSpPr>
        <p:spPr>
          <a:xfrm>
            <a:off x="10245852" y="4325112"/>
            <a:ext cx="128016" cy="128016"/>
          </a:xfrm>
          <a:prstGeom prst="ellipse">
            <a:avLst/>
          </a:prstGeom>
          <a:solidFill>
            <a:srgbClr val="FFD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6263640" y="4754880"/>
            <a:ext cx="2606040" cy="1417320"/>
          </a:xfrm>
          <a:prstGeom prst="roundRect">
            <a:avLst>
              <a:gd name="adj" fmla="val 15000"/>
            </a:avLst>
          </a:prstGeom>
          <a:solidFill>
            <a:srgbClr val="14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6263640" y="4754880"/>
            <a:ext cx="2606040" cy="91440"/>
          </a:xfrm>
          <a:prstGeom prst="rect">
            <a:avLst/>
          </a:prstGeom>
          <a:solidFill>
            <a:srgbClr val="FFD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263640" y="5074920"/>
            <a:ext cx="2606040" cy="45720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Sistemas</a:t>
            </a:r>
          </a:p>
        </p:txBody>
      </p:sp>
      <p:sp>
        <p:nvSpPr>
          <p:cNvPr id="40" name="Oval 39"/>
          <p:cNvSpPr/>
          <p:nvPr/>
        </p:nvSpPr>
        <p:spPr>
          <a:xfrm>
            <a:off x="7502652" y="5879592"/>
            <a:ext cx="128016" cy="128016"/>
          </a:xfrm>
          <a:prstGeom prst="ellipse">
            <a:avLst/>
          </a:prstGeom>
          <a:solidFill>
            <a:srgbClr val="FFD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ounded Rectangle 40"/>
          <p:cNvSpPr/>
          <p:nvPr/>
        </p:nvSpPr>
        <p:spPr>
          <a:xfrm>
            <a:off x="9006840" y="4754880"/>
            <a:ext cx="2606040" cy="1417320"/>
          </a:xfrm>
          <a:prstGeom prst="roundRect">
            <a:avLst>
              <a:gd name="adj" fmla="val 15000"/>
            </a:avLst>
          </a:prstGeom>
          <a:solidFill>
            <a:srgbClr val="14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9006840" y="4754880"/>
            <a:ext cx="2606040" cy="91440"/>
          </a:xfrm>
          <a:prstGeom prst="rect">
            <a:avLst/>
          </a:prstGeom>
          <a:solidFill>
            <a:srgbClr val="FFD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9006840" y="5074920"/>
            <a:ext cx="2606040" cy="45720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Pessoas</a:t>
            </a:r>
          </a:p>
        </p:txBody>
      </p:sp>
      <p:sp>
        <p:nvSpPr>
          <p:cNvPr id="44" name="Oval 43"/>
          <p:cNvSpPr/>
          <p:nvPr/>
        </p:nvSpPr>
        <p:spPr>
          <a:xfrm>
            <a:off x="10245852" y="5879592"/>
            <a:ext cx="128016" cy="128016"/>
          </a:xfrm>
          <a:prstGeom prst="ellipse">
            <a:avLst/>
          </a:prstGeom>
          <a:solidFill>
            <a:srgbClr val="FFD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502920" y="6172200"/>
            <a:ext cx="10972800" cy="27432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100" b="1">
                <a:solidFill>
                  <a:srgbClr val="8A8A8A"/>
                </a:solidFill>
                <a:latin typeface="Calibri"/>
              </a:rPr>
              <a:t>Regra 10 · 20 · 70 — 10% algoritmos, 20% dados, 70% pessoas, processos e cultura.</a:t>
            </a:r>
          </a:p>
        </p:txBody>
      </p:sp>
      <p:cxnSp>
        <p:nvCxnSpPr>
          <p:cNvPr id="46" name="Connector 45"/>
          <p:cNvCxnSpPr/>
          <p:nvPr/>
        </p:nvCxnSpPr>
        <p:spPr>
          <a:xfrm>
            <a:off x="457200" y="6446520"/>
            <a:ext cx="11274552" cy="0"/>
          </a:xfrm>
          <a:prstGeom prst="line">
            <a:avLst/>
          </a:prstGeom>
          <a:ln w="9525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47" name="Picture 46" descr="logo_pe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6519672"/>
            <a:ext cx="278407" cy="256032"/>
          </a:xfrm>
          <a:prstGeom prst="rect">
            <a:avLst/>
          </a:prstGeom>
        </p:spPr>
      </p:pic>
      <p:sp>
        <p:nvSpPr>
          <p:cNvPr id="48" name="TextBox 47"/>
          <p:cNvSpPr txBox="1"/>
          <p:nvPr/>
        </p:nvSpPr>
        <p:spPr>
          <a:xfrm>
            <a:off x="1051560" y="6519672"/>
            <a:ext cx="1828800" cy="27432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100" b="1">
                <a:solidFill>
                  <a:srgbClr val="8A8A8A"/>
                </a:solidFill>
                <a:latin typeface="Calibri"/>
              </a:rPr>
              <a:t>|  AIFT</a:t>
            </a:r>
          </a:p>
        </p:txBody>
      </p:sp>
      <p:sp>
        <p:nvSpPr>
          <p:cNvPr id="49" name="Oval 48"/>
          <p:cNvSpPr/>
          <p:nvPr/>
        </p:nvSpPr>
        <p:spPr>
          <a:xfrm>
            <a:off x="6053328" y="6592824"/>
            <a:ext cx="91440" cy="91440"/>
          </a:xfrm>
          <a:prstGeom prst="ellipse">
            <a:avLst/>
          </a:prstGeom>
          <a:solidFill>
            <a:srgbClr val="FFD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10515600" y="6519672"/>
            <a:ext cx="1216152" cy="27432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r"/>
            <a:r>
              <a:rPr sz="1100" b="1">
                <a:solidFill>
                  <a:srgbClr val="8A8A8A"/>
                </a:solidFill>
                <a:latin typeface="Calibri"/>
              </a:rPr>
              <a:t>04 / 11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686800" y="6519672"/>
            <a:ext cx="1828800" cy="27432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r"/>
            <a:r>
              <a:rPr sz="1000" b="0">
                <a:solidFill>
                  <a:srgbClr val="8A8A8A"/>
                </a:solidFill>
                <a:latin typeface="Calibri"/>
              </a:rPr>
              <a:t>Confidencial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502920"/>
            <a:ext cx="73152" cy="502920"/>
          </a:xfrm>
          <a:prstGeom prst="rect">
            <a:avLst/>
          </a:prstGeom>
          <a:solidFill>
            <a:srgbClr val="FFD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457200"/>
            <a:ext cx="7315200" cy="32004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200" b="1">
                <a:solidFill>
                  <a:srgbClr val="8A8A8A"/>
                </a:solidFill>
                <a:latin typeface="Calibri"/>
              </a:rPr>
              <a:t>BLOCO 02 · PILARES OPERACIONAIS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713232"/>
            <a:ext cx="10058400" cy="64008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3200" b="1">
                <a:solidFill>
                  <a:srgbClr val="1A1A1A"/>
                </a:solidFill>
                <a:latin typeface="Calibri"/>
              </a:rPr>
              <a:t>Equipe, Stack e Governança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07040" y="320040"/>
            <a:ext cx="1280160" cy="109728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r"/>
            <a:r>
              <a:rPr sz="8000" b="1">
                <a:solidFill>
                  <a:srgbClr val="F4F4F4"/>
                </a:solidFill>
                <a:latin typeface="Calibri"/>
              </a:rPr>
              <a:t>02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691640"/>
            <a:ext cx="3703320" cy="4434840"/>
          </a:xfrm>
          <a:prstGeom prst="roundRect">
            <a:avLst>
              <a:gd name="adj" fmla="val 8000"/>
            </a:avLst>
          </a:prstGeom>
          <a:solidFill>
            <a:srgbClr val="F4F4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1691640"/>
            <a:ext cx="3703320" cy="365760"/>
          </a:xfrm>
          <a:prstGeom prst="rect">
            <a:avLst/>
          </a:prstGeom>
          <a:solidFill>
            <a:srgbClr val="FFD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1737360"/>
            <a:ext cx="3703320" cy="32004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ctr"/>
            <a:r>
              <a:rPr sz="1200" b="1">
                <a:solidFill>
                  <a:srgbClr val="141414"/>
                </a:solidFill>
                <a:latin typeface="Calibri"/>
              </a:rPr>
              <a:t>EQUIPE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240280"/>
            <a:ext cx="3154680" cy="64008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2200" b="1">
                <a:solidFill>
                  <a:srgbClr val="1A1A1A"/>
                </a:solidFill>
                <a:latin typeface="Calibri"/>
              </a:rPr>
              <a:t>Desenvolver pessoas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3017520"/>
            <a:ext cx="457200" cy="36576"/>
          </a:xfrm>
          <a:prstGeom prst="rect">
            <a:avLst/>
          </a:prstGeom>
          <a:solidFill>
            <a:srgbClr val="14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77240" y="3364992"/>
            <a:ext cx="109728" cy="109728"/>
          </a:xfrm>
          <a:prstGeom prst="ellipse">
            <a:avLst/>
          </a:prstGeom>
          <a:solidFill>
            <a:srgbClr val="FFD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5840" y="3246120"/>
            <a:ext cx="3063240" cy="77724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200" b="0">
                <a:solidFill>
                  <a:srgbClr val="4A4A4A"/>
                </a:solidFill>
                <a:latin typeface="Calibri"/>
              </a:rPr>
              <a:t>Liderança · cultura, governança, gestão de agentes IA</a:t>
            </a:r>
          </a:p>
        </p:txBody>
      </p:sp>
      <p:sp>
        <p:nvSpPr>
          <p:cNvPr id="14" name="Oval 13"/>
          <p:cNvSpPr/>
          <p:nvPr/>
        </p:nvSpPr>
        <p:spPr>
          <a:xfrm>
            <a:off x="777240" y="4142232"/>
            <a:ext cx="109728" cy="109728"/>
          </a:xfrm>
          <a:prstGeom prst="ellipse">
            <a:avLst/>
          </a:prstGeom>
          <a:solidFill>
            <a:srgbClr val="FFD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05840" y="4023360"/>
            <a:ext cx="3063240" cy="77724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200" b="0">
                <a:solidFill>
                  <a:srgbClr val="4A4A4A"/>
                </a:solidFill>
                <a:latin typeface="Calibri"/>
              </a:rPr>
              <a:t>Operação · ferramentas, prompts, fluxos guiados</a:t>
            </a:r>
          </a:p>
        </p:txBody>
      </p:sp>
      <p:sp>
        <p:nvSpPr>
          <p:cNvPr id="16" name="Oval 15"/>
          <p:cNvSpPr/>
          <p:nvPr/>
        </p:nvSpPr>
        <p:spPr>
          <a:xfrm>
            <a:off x="777240" y="4919472"/>
            <a:ext cx="109728" cy="109728"/>
          </a:xfrm>
          <a:prstGeom prst="ellipse">
            <a:avLst/>
          </a:prstGeom>
          <a:solidFill>
            <a:srgbClr val="FFD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05840" y="4800600"/>
            <a:ext cx="3063240" cy="77724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200" b="0">
                <a:solidFill>
                  <a:srgbClr val="4A4A4A"/>
                </a:solidFill>
                <a:latin typeface="Calibri"/>
              </a:rPr>
              <a:t>Upskilling do operador · líder de IA da área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343400" y="1691640"/>
            <a:ext cx="3703320" cy="4434840"/>
          </a:xfrm>
          <a:prstGeom prst="roundRect">
            <a:avLst>
              <a:gd name="adj" fmla="val 8000"/>
            </a:avLst>
          </a:prstGeom>
          <a:solidFill>
            <a:srgbClr val="F4F4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343400" y="1691640"/>
            <a:ext cx="3703320" cy="365760"/>
          </a:xfrm>
          <a:prstGeom prst="rect">
            <a:avLst/>
          </a:prstGeom>
          <a:solidFill>
            <a:srgbClr val="FFD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343400" y="1737360"/>
            <a:ext cx="3703320" cy="32004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ctr"/>
            <a:r>
              <a:rPr sz="1200" b="1">
                <a:solidFill>
                  <a:srgbClr val="141414"/>
                </a:solidFill>
                <a:latin typeface="Calibri"/>
              </a:rPr>
              <a:t>STACK IA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617720" y="2240280"/>
            <a:ext cx="3154680" cy="64008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2200" b="1">
                <a:solidFill>
                  <a:srgbClr val="1A1A1A"/>
                </a:solidFill>
                <a:latin typeface="Calibri"/>
              </a:rPr>
              <a:t>Ambiente seguro e homologado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617720" y="3017520"/>
            <a:ext cx="457200" cy="36576"/>
          </a:xfrm>
          <a:prstGeom prst="rect">
            <a:avLst/>
          </a:prstGeom>
          <a:solidFill>
            <a:srgbClr val="14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4617720" y="3364992"/>
            <a:ext cx="109728" cy="109728"/>
          </a:xfrm>
          <a:prstGeom prst="ellipse">
            <a:avLst/>
          </a:prstGeom>
          <a:solidFill>
            <a:srgbClr val="FFD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846320" y="3246120"/>
            <a:ext cx="3063240" cy="77724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200" b="0">
                <a:solidFill>
                  <a:srgbClr val="4A4A4A"/>
                </a:solidFill>
                <a:latin typeface="Calibri"/>
              </a:rPr>
              <a:t>Ambiente único e auditável</a:t>
            </a:r>
          </a:p>
        </p:txBody>
      </p:sp>
      <p:sp>
        <p:nvSpPr>
          <p:cNvPr id="25" name="Oval 24"/>
          <p:cNvSpPr/>
          <p:nvPr/>
        </p:nvSpPr>
        <p:spPr>
          <a:xfrm>
            <a:off x="4617720" y="4142232"/>
            <a:ext cx="109728" cy="109728"/>
          </a:xfrm>
          <a:prstGeom prst="ellipse">
            <a:avLst/>
          </a:prstGeom>
          <a:solidFill>
            <a:srgbClr val="FFD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846320" y="4023360"/>
            <a:ext cx="3063240" cy="77724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200" b="0">
                <a:solidFill>
                  <a:srgbClr val="4A4A4A"/>
                </a:solidFill>
                <a:latin typeface="Calibri"/>
              </a:rPr>
              <a:t>Ferramentas homologadas (LGPD)</a:t>
            </a:r>
          </a:p>
        </p:txBody>
      </p:sp>
      <p:sp>
        <p:nvSpPr>
          <p:cNvPr id="27" name="Oval 26"/>
          <p:cNvSpPr/>
          <p:nvPr/>
        </p:nvSpPr>
        <p:spPr>
          <a:xfrm>
            <a:off x="4617720" y="4919472"/>
            <a:ext cx="109728" cy="109728"/>
          </a:xfrm>
          <a:prstGeom prst="ellipse">
            <a:avLst/>
          </a:prstGeom>
          <a:solidFill>
            <a:srgbClr val="FFD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846320" y="4800600"/>
            <a:ext cx="3063240" cy="77724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200" b="0">
                <a:solidFill>
                  <a:srgbClr val="4A4A4A"/>
                </a:solidFill>
                <a:latin typeface="Calibri"/>
              </a:rPr>
              <a:t>MLOps básico — sustentação e monitoramento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183880" y="1691640"/>
            <a:ext cx="3703320" cy="4434840"/>
          </a:xfrm>
          <a:prstGeom prst="roundRect">
            <a:avLst>
              <a:gd name="adj" fmla="val 8000"/>
            </a:avLst>
          </a:prstGeom>
          <a:solidFill>
            <a:srgbClr val="F4F4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8183880" y="1691640"/>
            <a:ext cx="3703320" cy="365760"/>
          </a:xfrm>
          <a:prstGeom prst="rect">
            <a:avLst/>
          </a:prstGeom>
          <a:solidFill>
            <a:srgbClr val="FFD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183880" y="1737360"/>
            <a:ext cx="3703320" cy="32004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ctr"/>
            <a:r>
              <a:rPr sz="1200" b="1">
                <a:solidFill>
                  <a:srgbClr val="141414"/>
                </a:solidFill>
                <a:latin typeface="Calibri"/>
              </a:rPr>
              <a:t>GOVERNANÇA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458200" y="2240280"/>
            <a:ext cx="3154680" cy="64008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2200" b="1">
                <a:solidFill>
                  <a:srgbClr val="1A1A1A"/>
                </a:solidFill>
                <a:latin typeface="Calibri"/>
              </a:rPr>
              <a:t>Projetos com método</a:t>
            </a:r>
          </a:p>
        </p:txBody>
      </p:sp>
      <p:sp>
        <p:nvSpPr>
          <p:cNvPr id="33" name="Rectangle 32"/>
          <p:cNvSpPr/>
          <p:nvPr/>
        </p:nvSpPr>
        <p:spPr>
          <a:xfrm>
            <a:off x="8458200" y="3017520"/>
            <a:ext cx="457200" cy="36576"/>
          </a:xfrm>
          <a:prstGeom prst="rect">
            <a:avLst/>
          </a:prstGeom>
          <a:solidFill>
            <a:srgbClr val="14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8458200" y="3364992"/>
            <a:ext cx="109728" cy="109728"/>
          </a:xfrm>
          <a:prstGeom prst="ellipse">
            <a:avLst/>
          </a:prstGeom>
          <a:solidFill>
            <a:srgbClr val="FFD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686800" y="3246120"/>
            <a:ext cx="3063240" cy="77724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200" b="0">
                <a:solidFill>
                  <a:srgbClr val="4A4A4A"/>
                </a:solidFill>
                <a:latin typeface="Calibri"/>
              </a:rPr>
              <a:t>Projetos · método único de execução</a:t>
            </a:r>
          </a:p>
        </p:txBody>
      </p:sp>
      <p:sp>
        <p:nvSpPr>
          <p:cNvPr id="36" name="Oval 35"/>
          <p:cNvSpPr/>
          <p:nvPr/>
        </p:nvSpPr>
        <p:spPr>
          <a:xfrm>
            <a:off x="8458200" y="4142232"/>
            <a:ext cx="109728" cy="109728"/>
          </a:xfrm>
          <a:prstGeom prst="ellipse">
            <a:avLst/>
          </a:prstGeom>
          <a:solidFill>
            <a:srgbClr val="FFD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686800" y="4023360"/>
            <a:ext cx="3063240" cy="77724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200" b="0">
                <a:solidFill>
                  <a:srgbClr val="4A4A4A"/>
                </a:solidFill>
                <a:latin typeface="Calibri"/>
              </a:rPr>
              <a:t>Estruturas integradas entre áreas</a:t>
            </a:r>
          </a:p>
        </p:txBody>
      </p:sp>
      <p:sp>
        <p:nvSpPr>
          <p:cNvPr id="38" name="Oval 37"/>
          <p:cNvSpPr/>
          <p:nvPr/>
        </p:nvSpPr>
        <p:spPr>
          <a:xfrm>
            <a:off x="8458200" y="4919472"/>
            <a:ext cx="109728" cy="109728"/>
          </a:xfrm>
          <a:prstGeom prst="ellipse">
            <a:avLst/>
          </a:prstGeom>
          <a:solidFill>
            <a:srgbClr val="FFD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686800" y="4800600"/>
            <a:ext cx="3063240" cy="77724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200" b="0">
                <a:solidFill>
                  <a:srgbClr val="4A4A4A"/>
                </a:solidFill>
                <a:latin typeface="Calibri"/>
              </a:rPr>
              <a:t>Segurança e retaguarda tecnológica</a:t>
            </a:r>
          </a:p>
        </p:txBody>
      </p:sp>
      <p:cxnSp>
        <p:nvCxnSpPr>
          <p:cNvPr id="40" name="Connector 39"/>
          <p:cNvCxnSpPr/>
          <p:nvPr/>
        </p:nvCxnSpPr>
        <p:spPr>
          <a:xfrm>
            <a:off x="457200" y="6446520"/>
            <a:ext cx="11274552" cy="0"/>
          </a:xfrm>
          <a:prstGeom prst="line">
            <a:avLst/>
          </a:prstGeom>
          <a:ln w="9525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41" name="Picture 40" descr="logo_pe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6519672"/>
            <a:ext cx="278407" cy="256032"/>
          </a:xfrm>
          <a:prstGeom prst="rect">
            <a:avLst/>
          </a:prstGeom>
        </p:spPr>
      </p:pic>
      <p:sp>
        <p:nvSpPr>
          <p:cNvPr id="42" name="TextBox 41"/>
          <p:cNvSpPr txBox="1"/>
          <p:nvPr/>
        </p:nvSpPr>
        <p:spPr>
          <a:xfrm>
            <a:off x="1051560" y="6519672"/>
            <a:ext cx="1828800" cy="27432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100" b="1">
                <a:solidFill>
                  <a:srgbClr val="8A8A8A"/>
                </a:solidFill>
                <a:latin typeface="Calibri"/>
              </a:rPr>
              <a:t>|  AIFT</a:t>
            </a:r>
          </a:p>
        </p:txBody>
      </p:sp>
      <p:sp>
        <p:nvSpPr>
          <p:cNvPr id="43" name="Oval 42"/>
          <p:cNvSpPr/>
          <p:nvPr/>
        </p:nvSpPr>
        <p:spPr>
          <a:xfrm>
            <a:off x="6053328" y="6592824"/>
            <a:ext cx="91440" cy="91440"/>
          </a:xfrm>
          <a:prstGeom prst="ellipse">
            <a:avLst/>
          </a:prstGeom>
          <a:solidFill>
            <a:srgbClr val="FFD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10515600" y="6519672"/>
            <a:ext cx="1216152" cy="27432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r"/>
            <a:r>
              <a:rPr sz="1100" b="1">
                <a:solidFill>
                  <a:srgbClr val="8A8A8A"/>
                </a:solidFill>
                <a:latin typeface="Calibri"/>
              </a:rPr>
              <a:t>05 / 11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686800" y="6519672"/>
            <a:ext cx="1828800" cy="27432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r"/>
            <a:r>
              <a:rPr sz="1000" b="0">
                <a:solidFill>
                  <a:srgbClr val="8A8A8A"/>
                </a:solidFill>
                <a:latin typeface="Calibri"/>
              </a:rPr>
              <a:t>Confidencial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502920"/>
            <a:ext cx="73152" cy="502920"/>
          </a:xfrm>
          <a:prstGeom prst="rect">
            <a:avLst/>
          </a:prstGeom>
          <a:solidFill>
            <a:srgbClr val="FFD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457200"/>
            <a:ext cx="7315200" cy="32004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200" b="1">
                <a:solidFill>
                  <a:srgbClr val="8A8A8A"/>
                </a:solidFill>
                <a:latin typeface="Calibri"/>
              </a:rPr>
              <a:t>BLOCO 03 · ONDE ESTAMOS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713232"/>
            <a:ext cx="10058400" cy="64008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3200" b="1">
                <a:solidFill>
                  <a:srgbClr val="1A1A1A"/>
                </a:solidFill>
                <a:latin typeface="Calibri"/>
              </a:rPr>
              <a:t>Status da jornada AI-First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07040" y="320040"/>
            <a:ext cx="1280160" cy="109728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r"/>
            <a:r>
              <a:rPr sz="8000" b="1">
                <a:solidFill>
                  <a:srgbClr val="F4F4F4"/>
                </a:solidFill>
                <a:latin typeface="Calibri"/>
              </a:rPr>
              <a:t>03</a:t>
            </a:r>
          </a:p>
        </p:txBody>
      </p:sp>
      <p:sp>
        <p:nvSpPr>
          <p:cNvPr id="7" name="Rectangle 6"/>
          <p:cNvSpPr/>
          <p:nvPr/>
        </p:nvSpPr>
        <p:spPr>
          <a:xfrm>
            <a:off x="713232" y="1947672"/>
            <a:ext cx="36576" cy="36576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594360" y="1828800"/>
            <a:ext cx="274320" cy="274320"/>
          </a:xfrm>
          <a:prstGeom prst="ellipse">
            <a:avLst/>
          </a:prstGeom>
          <a:solidFill>
            <a:srgbClr val="FFD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1828800"/>
            <a:ext cx="274320" cy="274320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ctr"/>
            <a:r>
              <a:rPr sz="1400" b="1">
                <a:solidFill>
                  <a:srgbClr val="141414"/>
                </a:solidFill>
                <a:latin typeface="Calibri"/>
              </a:rPr>
              <a:t>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1783080"/>
            <a:ext cx="5029200" cy="32004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400" b="1">
                <a:solidFill>
                  <a:srgbClr val="1A1A1A"/>
                </a:solidFill>
                <a:latin typeface="Calibri"/>
              </a:rPr>
              <a:t>Pesquisa &amp; Estudo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2075688"/>
            <a:ext cx="5029200" cy="27432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000" b="0">
                <a:solidFill>
                  <a:srgbClr val="8A8A8A"/>
                </a:solidFill>
                <a:latin typeface="Calibri"/>
              </a:rPr>
              <a:t>Base teórica e benchmark consolidados</a:t>
            </a:r>
          </a:p>
        </p:txBody>
      </p:sp>
      <p:sp>
        <p:nvSpPr>
          <p:cNvPr id="12" name="Oval 11"/>
          <p:cNvSpPr/>
          <p:nvPr/>
        </p:nvSpPr>
        <p:spPr>
          <a:xfrm>
            <a:off x="594360" y="2423160"/>
            <a:ext cx="274320" cy="274320"/>
          </a:xfrm>
          <a:prstGeom prst="ellipse">
            <a:avLst/>
          </a:prstGeom>
          <a:solidFill>
            <a:srgbClr val="FFD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94360" y="2423160"/>
            <a:ext cx="274320" cy="274320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ctr"/>
            <a:r>
              <a:rPr sz="1400" b="1">
                <a:solidFill>
                  <a:srgbClr val="141414"/>
                </a:solidFill>
                <a:latin typeface="Calibri"/>
              </a:rPr>
              <a:t>✓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5840" y="2377440"/>
            <a:ext cx="5029200" cy="32004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400" b="1">
                <a:solidFill>
                  <a:srgbClr val="1A1A1A"/>
                </a:solidFill>
                <a:latin typeface="Calibri"/>
              </a:rPr>
              <a:t>Treinamento Executivo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5840" y="2670048"/>
            <a:ext cx="5029200" cy="27432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000" b="0">
                <a:solidFill>
                  <a:srgbClr val="8A8A8A"/>
                </a:solidFill>
                <a:latin typeface="Calibri"/>
              </a:rPr>
              <a:t>Liderança alinhada à metodologia</a:t>
            </a:r>
          </a:p>
        </p:txBody>
      </p:sp>
      <p:sp>
        <p:nvSpPr>
          <p:cNvPr id="16" name="Oval 15"/>
          <p:cNvSpPr/>
          <p:nvPr/>
        </p:nvSpPr>
        <p:spPr>
          <a:xfrm>
            <a:off x="594360" y="3017520"/>
            <a:ext cx="274320" cy="274320"/>
          </a:xfrm>
          <a:prstGeom prst="ellipse">
            <a:avLst/>
          </a:prstGeom>
          <a:solidFill>
            <a:srgbClr val="FFD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94360" y="3017520"/>
            <a:ext cx="274320" cy="274320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ctr"/>
            <a:r>
              <a:rPr sz="1400" b="1">
                <a:solidFill>
                  <a:srgbClr val="141414"/>
                </a:solidFill>
                <a:latin typeface="Calibri"/>
              </a:rPr>
              <a:t>✓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05840" y="2971800"/>
            <a:ext cx="5029200" cy="32004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400" b="1">
                <a:solidFill>
                  <a:srgbClr val="1A1A1A"/>
                </a:solidFill>
                <a:latin typeface="Calibri"/>
              </a:rPr>
              <a:t>Lista de Projetos (25)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05840" y="3264408"/>
            <a:ext cx="5029200" cy="27432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000" b="0">
                <a:solidFill>
                  <a:srgbClr val="8A8A8A"/>
                </a:solidFill>
                <a:latin typeface="Calibri"/>
              </a:rPr>
              <a:t>Backlog priorizado por área</a:t>
            </a:r>
          </a:p>
        </p:txBody>
      </p:sp>
      <p:sp>
        <p:nvSpPr>
          <p:cNvPr id="20" name="Oval 19"/>
          <p:cNvSpPr/>
          <p:nvPr/>
        </p:nvSpPr>
        <p:spPr>
          <a:xfrm>
            <a:off x="594360" y="3611880"/>
            <a:ext cx="274320" cy="274320"/>
          </a:xfrm>
          <a:prstGeom prst="ellipse">
            <a:avLst/>
          </a:prstGeom>
          <a:solidFill>
            <a:srgbClr val="FFD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94360" y="3611880"/>
            <a:ext cx="274320" cy="274320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ctr"/>
            <a:r>
              <a:rPr sz="1400" b="1">
                <a:solidFill>
                  <a:srgbClr val="141414"/>
                </a:solidFill>
                <a:latin typeface="Calibri"/>
              </a:rPr>
              <a:t>✓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05840" y="3566160"/>
            <a:ext cx="5029200" cy="32004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400" b="1">
                <a:solidFill>
                  <a:srgbClr val="1A1A1A"/>
                </a:solidFill>
                <a:latin typeface="Calibri"/>
              </a:rPr>
              <a:t>12 Pilotos · 3 melhores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05840" y="3858768"/>
            <a:ext cx="5029200" cy="27432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000" b="0">
                <a:solidFill>
                  <a:srgbClr val="8A8A8A"/>
                </a:solidFill>
                <a:latin typeface="Calibri"/>
              </a:rPr>
              <a:t>Selecionados via concurso interno</a:t>
            </a:r>
          </a:p>
        </p:txBody>
      </p:sp>
      <p:sp>
        <p:nvSpPr>
          <p:cNvPr id="24" name="Oval 23"/>
          <p:cNvSpPr/>
          <p:nvPr/>
        </p:nvSpPr>
        <p:spPr>
          <a:xfrm>
            <a:off x="594360" y="4206240"/>
            <a:ext cx="274320" cy="27432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8A8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05840" y="4160520"/>
            <a:ext cx="5029200" cy="32004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400" b="1">
                <a:solidFill>
                  <a:srgbClr val="4A4A4A"/>
                </a:solidFill>
                <a:latin typeface="Calibri"/>
              </a:rPr>
              <a:t>Célula de Inovação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05840" y="4453128"/>
            <a:ext cx="5029200" cy="27432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000" b="0">
                <a:solidFill>
                  <a:srgbClr val="8A8A8A"/>
                </a:solidFill>
                <a:latin typeface="Calibri"/>
              </a:rPr>
              <a:t>Squad fracionado em formação</a:t>
            </a:r>
          </a:p>
        </p:txBody>
      </p:sp>
      <p:sp>
        <p:nvSpPr>
          <p:cNvPr id="27" name="Oval 26"/>
          <p:cNvSpPr/>
          <p:nvPr/>
        </p:nvSpPr>
        <p:spPr>
          <a:xfrm>
            <a:off x="594360" y="4800600"/>
            <a:ext cx="274320" cy="27432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8A8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005840" y="4754880"/>
            <a:ext cx="5029200" cy="32004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400" b="1">
                <a:solidFill>
                  <a:srgbClr val="4A4A4A"/>
                </a:solidFill>
                <a:latin typeface="Calibri"/>
              </a:rPr>
              <a:t>Plano Macro por Área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05840" y="5047488"/>
            <a:ext cx="5029200" cy="27432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000" b="0">
                <a:solidFill>
                  <a:srgbClr val="8A8A8A"/>
                </a:solidFill>
                <a:latin typeface="Calibri"/>
              </a:rPr>
              <a:t>Sequenciamento dos próximos alvos</a:t>
            </a:r>
          </a:p>
        </p:txBody>
      </p:sp>
      <p:sp>
        <p:nvSpPr>
          <p:cNvPr id="30" name="Oval 29"/>
          <p:cNvSpPr/>
          <p:nvPr/>
        </p:nvSpPr>
        <p:spPr>
          <a:xfrm>
            <a:off x="594360" y="5394960"/>
            <a:ext cx="274320" cy="27432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8A8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005840" y="5349240"/>
            <a:ext cx="5029200" cy="32004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400" b="1">
                <a:solidFill>
                  <a:srgbClr val="4A4A4A"/>
                </a:solidFill>
                <a:latin typeface="Calibri"/>
              </a:rPr>
              <a:t>Ciclo de Inovação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05840" y="5641848"/>
            <a:ext cx="5029200" cy="27432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000" b="0">
                <a:solidFill>
                  <a:srgbClr val="8A8A8A"/>
                </a:solidFill>
                <a:latin typeface="Calibri"/>
              </a:rPr>
              <a:t>Loop contínuo de 6 a 8 semanas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400800" y="1691640"/>
            <a:ext cx="5349240" cy="4572000"/>
          </a:xfrm>
          <a:prstGeom prst="roundRect">
            <a:avLst>
              <a:gd name="adj" fmla="val 5000"/>
            </a:avLst>
          </a:prstGeom>
          <a:solidFill>
            <a:srgbClr val="14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629400" y="1828800"/>
            <a:ext cx="4937760" cy="36576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100" b="1">
                <a:solidFill>
                  <a:srgbClr val="FFD400"/>
                </a:solidFill>
                <a:latin typeface="Calibri"/>
              </a:rPr>
              <a:t>CICLO DE INOVAÇÃO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629400" y="2103120"/>
            <a:ext cx="4937760" cy="50292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Calibri"/>
              </a:rPr>
              <a:t>Como aterrissamos numa área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629400" y="3200400"/>
            <a:ext cx="4892040" cy="502920"/>
          </a:xfrm>
          <a:prstGeom prst="roundRect">
            <a:avLst>
              <a:gd name="adj" fmla="val 30000"/>
            </a:avLst>
          </a:prstGeom>
          <a:solidFill>
            <a:srgbClr val="2A2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6629400" y="3200400"/>
            <a:ext cx="502920" cy="502920"/>
          </a:xfrm>
          <a:prstGeom prst="roundRect">
            <a:avLst>
              <a:gd name="adj" fmla="val 30000"/>
            </a:avLst>
          </a:prstGeom>
          <a:solidFill>
            <a:srgbClr val="FFD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629400" y="3200400"/>
            <a:ext cx="502920" cy="502920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ctr"/>
            <a:r>
              <a:rPr sz="1400" b="1">
                <a:solidFill>
                  <a:srgbClr val="141414"/>
                </a:solidFill>
                <a:latin typeface="Calibri"/>
              </a:rPr>
              <a:t>01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269480" y="3200400"/>
            <a:ext cx="4160520" cy="502920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Calibri"/>
              </a:rPr>
              <a:t>Entrevista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6629400" y="3813048"/>
            <a:ext cx="4892040" cy="502920"/>
          </a:xfrm>
          <a:prstGeom prst="roundRect">
            <a:avLst>
              <a:gd name="adj" fmla="val 30000"/>
            </a:avLst>
          </a:prstGeom>
          <a:solidFill>
            <a:srgbClr val="2A2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ounded Rectangle 40"/>
          <p:cNvSpPr/>
          <p:nvPr/>
        </p:nvSpPr>
        <p:spPr>
          <a:xfrm>
            <a:off x="6629400" y="3813048"/>
            <a:ext cx="502920" cy="502920"/>
          </a:xfrm>
          <a:prstGeom prst="roundRect">
            <a:avLst>
              <a:gd name="adj" fmla="val 30000"/>
            </a:avLst>
          </a:prstGeom>
          <a:solidFill>
            <a:srgbClr val="FFD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629400" y="3813048"/>
            <a:ext cx="502920" cy="502920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ctr"/>
            <a:r>
              <a:rPr sz="1400" b="1">
                <a:solidFill>
                  <a:srgbClr val="141414"/>
                </a:solidFill>
                <a:latin typeface="Calibri"/>
              </a:rPr>
              <a:t>02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269480" y="3813048"/>
            <a:ext cx="4160520" cy="502920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Calibri"/>
              </a:rPr>
              <a:t>Diagnóstico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6629400" y="4425696"/>
            <a:ext cx="4892040" cy="502920"/>
          </a:xfrm>
          <a:prstGeom prst="roundRect">
            <a:avLst>
              <a:gd name="adj" fmla="val 30000"/>
            </a:avLst>
          </a:prstGeom>
          <a:solidFill>
            <a:srgbClr val="2A2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ounded Rectangle 44"/>
          <p:cNvSpPr/>
          <p:nvPr/>
        </p:nvSpPr>
        <p:spPr>
          <a:xfrm>
            <a:off x="6629400" y="4425696"/>
            <a:ext cx="502920" cy="502920"/>
          </a:xfrm>
          <a:prstGeom prst="roundRect">
            <a:avLst>
              <a:gd name="adj" fmla="val 30000"/>
            </a:avLst>
          </a:prstGeom>
          <a:solidFill>
            <a:srgbClr val="FFD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629400" y="4425696"/>
            <a:ext cx="502920" cy="502920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ctr"/>
            <a:r>
              <a:rPr sz="1400" b="1">
                <a:solidFill>
                  <a:srgbClr val="141414"/>
                </a:solidFill>
                <a:latin typeface="Calibri"/>
              </a:rPr>
              <a:t>03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269480" y="4425696"/>
            <a:ext cx="4160520" cy="502920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Calibri"/>
              </a:rPr>
              <a:t>Solução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6629400" y="5038344"/>
            <a:ext cx="4892040" cy="502920"/>
          </a:xfrm>
          <a:prstGeom prst="roundRect">
            <a:avLst>
              <a:gd name="adj" fmla="val 30000"/>
            </a:avLst>
          </a:prstGeom>
          <a:solidFill>
            <a:srgbClr val="2A2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ounded Rectangle 48"/>
          <p:cNvSpPr/>
          <p:nvPr/>
        </p:nvSpPr>
        <p:spPr>
          <a:xfrm>
            <a:off x="6629400" y="5038344"/>
            <a:ext cx="502920" cy="502920"/>
          </a:xfrm>
          <a:prstGeom prst="roundRect">
            <a:avLst>
              <a:gd name="adj" fmla="val 30000"/>
            </a:avLst>
          </a:prstGeom>
          <a:solidFill>
            <a:srgbClr val="FFD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6629400" y="5038344"/>
            <a:ext cx="502920" cy="502920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ctr"/>
            <a:r>
              <a:rPr sz="1400" b="1">
                <a:solidFill>
                  <a:srgbClr val="141414"/>
                </a:solidFill>
                <a:latin typeface="Calibri"/>
              </a:rPr>
              <a:t>04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7269480" y="5038344"/>
            <a:ext cx="4160520" cy="502920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Calibri"/>
              </a:rPr>
              <a:t>Dev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6629400" y="5650992"/>
            <a:ext cx="4892040" cy="502920"/>
          </a:xfrm>
          <a:prstGeom prst="roundRect">
            <a:avLst>
              <a:gd name="adj" fmla="val 30000"/>
            </a:avLst>
          </a:prstGeom>
          <a:solidFill>
            <a:srgbClr val="2A2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ounded Rectangle 52"/>
          <p:cNvSpPr/>
          <p:nvPr/>
        </p:nvSpPr>
        <p:spPr>
          <a:xfrm>
            <a:off x="6629400" y="5650992"/>
            <a:ext cx="502920" cy="502920"/>
          </a:xfrm>
          <a:prstGeom prst="roundRect">
            <a:avLst>
              <a:gd name="adj" fmla="val 30000"/>
            </a:avLst>
          </a:prstGeom>
          <a:solidFill>
            <a:srgbClr val="FFD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6629400" y="5650992"/>
            <a:ext cx="502920" cy="502920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ctr"/>
            <a:r>
              <a:rPr sz="1400" b="1">
                <a:solidFill>
                  <a:srgbClr val="141414"/>
                </a:solidFill>
                <a:latin typeface="Calibri"/>
              </a:rPr>
              <a:t>05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7269480" y="5650992"/>
            <a:ext cx="4160520" cy="502920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Calibri"/>
              </a:rPr>
              <a:t>Suporte</a:t>
            </a:r>
          </a:p>
        </p:txBody>
      </p:sp>
      <p:cxnSp>
        <p:nvCxnSpPr>
          <p:cNvPr id="56" name="Connector 55"/>
          <p:cNvCxnSpPr/>
          <p:nvPr/>
        </p:nvCxnSpPr>
        <p:spPr>
          <a:xfrm>
            <a:off x="457200" y="6446520"/>
            <a:ext cx="11274552" cy="0"/>
          </a:xfrm>
          <a:prstGeom prst="line">
            <a:avLst/>
          </a:prstGeom>
          <a:ln w="9525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57" name="Picture 56" descr="logo_pe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6519672"/>
            <a:ext cx="278407" cy="256032"/>
          </a:xfrm>
          <a:prstGeom prst="rect">
            <a:avLst/>
          </a:prstGeom>
        </p:spPr>
      </p:pic>
      <p:sp>
        <p:nvSpPr>
          <p:cNvPr id="58" name="TextBox 57"/>
          <p:cNvSpPr txBox="1"/>
          <p:nvPr/>
        </p:nvSpPr>
        <p:spPr>
          <a:xfrm>
            <a:off x="1051560" y="6519672"/>
            <a:ext cx="1828800" cy="27432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100" b="1">
                <a:solidFill>
                  <a:srgbClr val="8A8A8A"/>
                </a:solidFill>
                <a:latin typeface="Calibri"/>
              </a:rPr>
              <a:t>|  AIFT</a:t>
            </a:r>
          </a:p>
        </p:txBody>
      </p:sp>
      <p:sp>
        <p:nvSpPr>
          <p:cNvPr id="59" name="Oval 58"/>
          <p:cNvSpPr/>
          <p:nvPr/>
        </p:nvSpPr>
        <p:spPr>
          <a:xfrm>
            <a:off x="6053328" y="6592824"/>
            <a:ext cx="91440" cy="91440"/>
          </a:xfrm>
          <a:prstGeom prst="ellipse">
            <a:avLst/>
          </a:prstGeom>
          <a:solidFill>
            <a:srgbClr val="FFD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10515600" y="6519672"/>
            <a:ext cx="1216152" cy="27432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r"/>
            <a:r>
              <a:rPr sz="1100" b="1">
                <a:solidFill>
                  <a:srgbClr val="8A8A8A"/>
                </a:solidFill>
                <a:latin typeface="Calibri"/>
              </a:rPr>
              <a:t>06 / 11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8686800" y="6519672"/>
            <a:ext cx="1828800" cy="27432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r"/>
            <a:r>
              <a:rPr sz="1000" b="0">
                <a:solidFill>
                  <a:srgbClr val="8A8A8A"/>
                </a:solidFill>
                <a:latin typeface="Calibri"/>
              </a:rPr>
              <a:t>Confidencial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502920"/>
            <a:ext cx="73152" cy="502920"/>
          </a:xfrm>
          <a:prstGeom prst="rect">
            <a:avLst/>
          </a:prstGeom>
          <a:solidFill>
            <a:srgbClr val="FFD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457200"/>
            <a:ext cx="7315200" cy="32004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200" b="1">
                <a:solidFill>
                  <a:srgbClr val="8A8A8A"/>
                </a:solidFill>
                <a:latin typeface="Calibri"/>
              </a:rPr>
              <a:t>BLOCO 04 · MÉTODO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713232"/>
            <a:ext cx="10058400" cy="64008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3200" b="1">
                <a:solidFill>
                  <a:srgbClr val="1A1A1A"/>
                </a:solidFill>
                <a:latin typeface="Calibri"/>
              </a:rPr>
              <a:t>Por área, com alvo e pirâmide de pessoas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07040" y="320040"/>
            <a:ext cx="1280160" cy="109728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r"/>
            <a:r>
              <a:rPr sz="8000" b="1">
                <a:solidFill>
                  <a:srgbClr val="F4F4F4"/>
                </a:solidFill>
                <a:latin typeface="Calibri"/>
              </a:rPr>
              <a:t>04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691640"/>
            <a:ext cx="6400800" cy="36576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200" b="1">
                <a:solidFill>
                  <a:srgbClr val="8A8A8A"/>
                </a:solidFill>
                <a:latin typeface="Calibri"/>
              </a:rPr>
              <a:t>ESTRUTURA DE ATAQUE POR ÁREA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194560" y="2103120"/>
            <a:ext cx="2697480" cy="594360"/>
          </a:xfrm>
          <a:prstGeom prst="roundRect">
            <a:avLst>
              <a:gd name="adj" fmla="val 10000"/>
            </a:avLst>
          </a:prstGeom>
          <a:solidFill>
            <a:srgbClr val="14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194560" y="2103120"/>
            <a:ext cx="2697480" cy="594360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ctr"/>
            <a:r>
              <a:rPr sz="1300" b="1">
                <a:solidFill>
                  <a:srgbClr val="FFD400"/>
                </a:solidFill>
                <a:latin typeface="Calibri"/>
              </a:rPr>
              <a:t>FOCO  ·  OBJETIVO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2926080"/>
            <a:ext cx="1828800" cy="502920"/>
          </a:xfrm>
          <a:prstGeom prst="roundRect">
            <a:avLst>
              <a:gd name="adj" fmla="val 15000"/>
            </a:avLst>
          </a:prstGeom>
          <a:solidFill>
            <a:srgbClr val="F4F4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" y="2926080"/>
            <a:ext cx="1828800" cy="502920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ctr"/>
            <a:r>
              <a:rPr sz="1300" b="1">
                <a:solidFill>
                  <a:srgbClr val="1A1A1A"/>
                </a:solidFill>
                <a:latin typeface="Calibri"/>
              </a:rPr>
              <a:t>Projeto A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1417320" y="2697480"/>
            <a:ext cx="0" cy="228600"/>
          </a:xfrm>
          <a:prstGeom prst="line">
            <a:avLst/>
          </a:prstGeom>
          <a:ln w="12700">
            <a:solidFill>
              <a:srgbClr val="8A8A8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2606040" y="2926080"/>
            <a:ext cx="1828800" cy="502920"/>
          </a:xfrm>
          <a:prstGeom prst="roundRect">
            <a:avLst>
              <a:gd name="adj" fmla="val 15000"/>
            </a:avLst>
          </a:prstGeom>
          <a:solidFill>
            <a:srgbClr val="F4F4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606040" y="2926080"/>
            <a:ext cx="1828800" cy="502920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ctr"/>
            <a:r>
              <a:rPr sz="1300" b="1">
                <a:solidFill>
                  <a:srgbClr val="1A1A1A"/>
                </a:solidFill>
                <a:latin typeface="Calibri"/>
              </a:rPr>
              <a:t>Projeto B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3520440" y="2697480"/>
            <a:ext cx="0" cy="228600"/>
          </a:xfrm>
          <a:prstGeom prst="line">
            <a:avLst/>
          </a:prstGeom>
          <a:ln w="12700">
            <a:solidFill>
              <a:srgbClr val="8A8A8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4709160" y="2926080"/>
            <a:ext cx="1828800" cy="502920"/>
          </a:xfrm>
          <a:prstGeom prst="roundRect">
            <a:avLst>
              <a:gd name="adj" fmla="val 15000"/>
            </a:avLst>
          </a:prstGeom>
          <a:solidFill>
            <a:srgbClr val="F4F4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709160" y="2926080"/>
            <a:ext cx="1828800" cy="502920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ctr"/>
            <a:r>
              <a:rPr sz="1300" b="1">
                <a:solidFill>
                  <a:srgbClr val="1A1A1A"/>
                </a:solidFill>
                <a:latin typeface="Calibri"/>
              </a:rPr>
              <a:t>Projeto C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5623560" y="2697480"/>
            <a:ext cx="0" cy="228600"/>
          </a:xfrm>
          <a:prstGeom prst="line">
            <a:avLst/>
          </a:prstGeom>
          <a:ln w="12700">
            <a:solidFill>
              <a:srgbClr val="8A8A8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1417320" y="2697480"/>
            <a:ext cx="4206240" cy="0"/>
          </a:xfrm>
          <a:prstGeom prst="line">
            <a:avLst/>
          </a:prstGeom>
          <a:ln w="12700">
            <a:solidFill>
              <a:srgbClr val="8A8A8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3543300" y="2697480"/>
            <a:ext cx="0" cy="91440"/>
          </a:xfrm>
          <a:prstGeom prst="line">
            <a:avLst/>
          </a:prstGeom>
          <a:ln w="12700">
            <a:solidFill>
              <a:srgbClr val="8A8A8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502920" y="3611880"/>
            <a:ext cx="6400800" cy="27432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000" b="1">
                <a:solidFill>
                  <a:srgbClr val="8A8A8A"/>
                </a:solidFill>
                <a:latin typeface="Calibri"/>
              </a:rPr>
              <a:t>PROCESSOS · iterações curtas (6 a 8 semanas)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463040" y="4023360"/>
            <a:ext cx="1280160" cy="457200"/>
          </a:xfrm>
          <a:prstGeom prst="roundRect">
            <a:avLst>
              <a:gd name="adj" fmla="val 5000"/>
            </a:avLst>
          </a:prstGeom>
          <a:solidFill>
            <a:srgbClr val="14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463040" y="4023360"/>
            <a:ext cx="1280160" cy="457200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Gestão · Líder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82980" y="4526280"/>
            <a:ext cx="2240280" cy="457200"/>
          </a:xfrm>
          <a:prstGeom prst="roundRect">
            <a:avLst>
              <a:gd name="adj" fmla="val 5000"/>
            </a:avLst>
          </a:prstGeom>
          <a:solidFill>
            <a:srgbClr val="4A4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82980" y="4526280"/>
            <a:ext cx="2240280" cy="457200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Especialistas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02920" y="5029200"/>
            <a:ext cx="3200400" cy="457200"/>
          </a:xfrm>
          <a:prstGeom prst="roundRect">
            <a:avLst>
              <a:gd name="adj" fmla="val 5000"/>
            </a:avLst>
          </a:prstGeom>
          <a:solidFill>
            <a:srgbClr val="D9D9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02920" y="5029200"/>
            <a:ext cx="3200400" cy="457200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ctr"/>
            <a:r>
              <a:rPr sz="1100" b="1">
                <a:solidFill>
                  <a:srgbClr val="1A1A1A"/>
                </a:solidFill>
                <a:latin typeface="Calibri"/>
              </a:rPr>
              <a:t>Operadores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858000" y="1691640"/>
            <a:ext cx="4937760" cy="4572000"/>
          </a:xfrm>
          <a:prstGeom prst="roundRect">
            <a:avLst>
              <a:gd name="adj" fmla="val 5000"/>
            </a:avLst>
          </a:prstGeom>
          <a:solidFill>
            <a:srgbClr val="F4F4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858000" y="1691640"/>
            <a:ext cx="4937760" cy="457200"/>
          </a:xfrm>
          <a:prstGeom prst="rect">
            <a:avLst/>
          </a:prstGeom>
          <a:solidFill>
            <a:srgbClr val="14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858000" y="1691640"/>
            <a:ext cx="4937760" cy="457200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ctr"/>
            <a:r>
              <a:rPr sz="1300" b="1">
                <a:solidFill>
                  <a:srgbClr val="FFD400"/>
                </a:solidFill>
                <a:latin typeface="Calibri"/>
              </a:rPr>
              <a:t>IA  ·  EIXOS DE EFICIÊNCIA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132320" y="2331720"/>
            <a:ext cx="4572000" cy="32004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000" b="1">
                <a:solidFill>
                  <a:srgbClr val="8A8A8A"/>
                </a:solidFill>
                <a:latin typeface="Calibri"/>
              </a:rPr>
              <a:t>ENTRADA · onde a IA entra</a:t>
            </a:r>
          </a:p>
        </p:txBody>
      </p:sp>
      <p:sp>
        <p:nvSpPr>
          <p:cNvPr id="32" name="Oval 31"/>
          <p:cNvSpPr/>
          <p:nvPr/>
        </p:nvSpPr>
        <p:spPr>
          <a:xfrm>
            <a:off x="7132320" y="2724912"/>
            <a:ext cx="128016" cy="128016"/>
          </a:xfrm>
          <a:prstGeom prst="ellipse">
            <a:avLst/>
          </a:prstGeom>
          <a:solidFill>
            <a:srgbClr val="FFD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360920" y="2606040"/>
            <a:ext cx="4297680" cy="32004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300" b="1">
                <a:solidFill>
                  <a:srgbClr val="1A1A1A"/>
                </a:solidFill>
                <a:latin typeface="Calibri"/>
              </a:rPr>
              <a:t>Receita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60920" y="2880360"/>
            <a:ext cx="4297680" cy="27432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000" b="0">
                <a:solidFill>
                  <a:srgbClr val="8A8A8A"/>
                </a:solidFill>
                <a:latin typeface="Calibri"/>
              </a:rPr>
              <a:t>rotinas comerciais e atendimento</a:t>
            </a:r>
          </a:p>
        </p:txBody>
      </p:sp>
      <p:sp>
        <p:nvSpPr>
          <p:cNvPr id="35" name="Oval 34"/>
          <p:cNvSpPr/>
          <p:nvPr/>
        </p:nvSpPr>
        <p:spPr>
          <a:xfrm>
            <a:off x="7132320" y="3364992"/>
            <a:ext cx="128016" cy="128016"/>
          </a:xfrm>
          <a:prstGeom prst="ellipse">
            <a:avLst/>
          </a:prstGeom>
          <a:solidFill>
            <a:srgbClr val="FFD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360920" y="3246120"/>
            <a:ext cx="4297680" cy="32004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300" b="1">
                <a:solidFill>
                  <a:srgbClr val="1A1A1A"/>
                </a:solidFill>
                <a:latin typeface="Calibri"/>
              </a:rPr>
              <a:t>Custo · Tempo · Esforço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360920" y="3520440"/>
            <a:ext cx="4297680" cy="27432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000" b="0">
                <a:solidFill>
                  <a:srgbClr val="8A8A8A"/>
                </a:solidFill>
                <a:latin typeface="Calibri"/>
              </a:rPr>
              <a:t>back-office e operação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132320" y="4160520"/>
            <a:ext cx="4572000" cy="32004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000" b="1">
                <a:solidFill>
                  <a:srgbClr val="8A8A8A"/>
                </a:solidFill>
                <a:latin typeface="Calibri"/>
              </a:rPr>
              <a:t>SAÍDA · ganhos em pessoas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7132320" y="4526280"/>
            <a:ext cx="2286000" cy="4572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7132320" y="4526280"/>
            <a:ext cx="73152" cy="457200"/>
          </a:xfrm>
          <a:prstGeom prst="rect">
            <a:avLst/>
          </a:prstGeom>
          <a:solidFill>
            <a:srgbClr val="FFD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269480" y="4526280"/>
            <a:ext cx="2103120" cy="457200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l"/>
            <a:r>
              <a:rPr sz="1200" b="1">
                <a:solidFill>
                  <a:srgbClr val="1A1A1A"/>
                </a:solidFill>
                <a:latin typeface="Calibri"/>
              </a:rPr>
              <a:t>Produtividade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9509760" y="4526280"/>
            <a:ext cx="2286000" cy="4572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9509760" y="4526280"/>
            <a:ext cx="73152" cy="457200"/>
          </a:xfrm>
          <a:prstGeom prst="rect">
            <a:avLst/>
          </a:prstGeom>
          <a:solidFill>
            <a:srgbClr val="FFD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9646920" y="4526280"/>
            <a:ext cx="2103120" cy="457200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l"/>
            <a:r>
              <a:rPr sz="1200" b="1">
                <a:solidFill>
                  <a:srgbClr val="1A1A1A"/>
                </a:solidFill>
                <a:latin typeface="Calibri"/>
              </a:rPr>
              <a:t>Escala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7132320" y="5074920"/>
            <a:ext cx="2286000" cy="4572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7132320" y="5074920"/>
            <a:ext cx="73152" cy="457200"/>
          </a:xfrm>
          <a:prstGeom prst="rect">
            <a:avLst/>
          </a:prstGeom>
          <a:solidFill>
            <a:srgbClr val="FFD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7269480" y="5074920"/>
            <a:ext cx="2103120" cy="457200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l"/>
            <a:r>
              <a:rPr sz="1200" b="1">
                <a:solidFill>
                  <a:srgbClr val="1A1A1A"/>
                </a:solidFill>
                <a:latin typeface="Calibri"/>
              </a:rPr>
              <a:t>Automatização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9509760" y="5074920"/>
            <a:ext cx="2286000" cy="4572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9509760" y="5074920"/>
            <a:ext cx="73152" cy="457200"/>
          </a:xfrm>
          <a:prstGeom prst="rect">
            <a:avLst/>
          </a:prstGeom>
          <a:solidFill>
            <a:srgbClr val="FFD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9646920" y="5074920"/>
            <a:ext cx="2103120" cy="457200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l"/>
            <a:r>
              <a:rPr sz="1200" b="1">
                <a:solidFill>
                  <a:srgbClr val="1A1A1A"/>
                </a:solidFill>
                <a:latin typeface="Calibri"/>
              </a:rPr>
              <a:t>Tarefas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7132320" y="5623560"/>
            <a:ext cx="2286000" cy="4572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7132320" y="5623560"/>
            <a:ext cx="73152" cy="457200"/>
          </a:xfrm>
          <a:prstGeom prst="rect">
            <a:avLst/>
          </a:prstGeom>
          <a:solidFill>
            <a:srgbClr val="FFD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7269480" y="5623560"/>
            <a:ext cx="2103120" cy="457200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l"/>
            <a:r>
              <a:rPr sz="1200" b="1">
                <a:solidFill>
                  <a:srgbClr val="1A1A1A"/>
                </a:solidFill>
                <a:latin typeface="Calibri"/>
              </a:rPr>
              <a:t>Tempo livre</a:t>
            </a:r>
          </a:p>
        </p:txBody>
      </p:sp>
      <p:cxnSp>
        <p:nvCxnSpPr>
          <p:cNvPr id="54" name="Connector 53"/>
          <p:cNvCxnSpPr/>
          <p:nvPr/>
        </p:nvCxnSpPr>
        <p:spPr>
          <a:xfrm>
            <a:off x="457200" y="6446520"/>
            <a:ext cx="11274552" cy="0"/>
          </a:xfrm>
          <a:prstGeom prst="line">
            <a:avLst/>
          </a:prstGeom>
          <a:ln w="9525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55" name="Picture 54" descr="logo_pe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6519672"/>
            <a:ext cx="278407" cy="256032"/>
          </a:xfrm>
          <a:prstGeom prst="rect">
            <a:avLst/>
          </a:prstGeom>
        </p:spPr>
      </p:pic>
      <p:sp>
        <p:nvSpPr>
          <p:cNvPr id="56" name="TextBox 55"/>
          <p:cNvSpPr txBox="1"/>
          <p:nvPr/>
        </p:nvSpPr>
        <p:spPr>
          <a:xfrm>
            <a:off x="1051560" y="6519672"/>
            <a:ext cx="1828800" cy="27432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100" b="1">
                <a:solidFill>
                  <a:srgbClr val="8A8A8A"/>
                </a:solidFill>
                <a:latin typeface="Calibri"/>
              </a:rPr>
              <a:t>|  AIFT</a:t>
            </a:r>
          </a:p>
        </p:txBody>
      </p:sp>
      <p:sp>
        <p:nvSpPr>
          <p:cNvPr id="57" name="Oval 56"/>
          <p:cNvSpPr/>
          <p:nvPr/>
        </p:nvSpPr>
        <p:spPr>
          <a:xfrm>
            <a:off x="6053328" y="6592824"/>
            <a:ext cx="91440" cy="91440"/>
          </a:xfrm>
          <a:prstGeom prst="ellipse">
            <a:avLst/>
          </a:prstGeom>
          <a:solidFill>
            <a:srgbClr val="FFD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10515600" y="6519672"/>
            <a:ext cx="1216152" cy="27432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r"/>
            <a:r>
              <a:rPr sz="1100" b="1">
                <a:solidFill>
                  <a:srgbClr val="8A8A8A"/>
                </a:solidFill>
                <a:latin typeface="Calibri"/>
              </a:rPr>
              <a:t>07 / 11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8686800" y="6519672"/>
            <a:ext cx="1828800" cy="27432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r"/>
            <a:r>
              <a:rPr sz="1000" b="0">
                <a:solidFill>
                  <a:srgbClr val="8A8A8A"/>
                </a:solidFill>
                <a:latin typeface="Calibri"/>
              </a:rPr>
              <a:t>Confidencial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502920"/>
            <a:ext cx="73152" cy="502920"/>
          </a:xfrm>
          <a:prstGeom prst="rect">
            <a:avLst/>
          </a:prstGeom>
          <a:solidFill>
            <a:srgbClr val="FFD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457200"/>
            <a:ext cx="7315200" cy="32004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200" b="1">
                <a:solidFill>
                  <a:srgbClr val="8A8A8A"/>
                </a:solidFill>
                <a:latin typeface="Calibri"/>
              </a:rPr>
              <a:t>BLOCO 05 · CÉLULA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713232"/>
            <a:ext cx="10058400" cy="64008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3200" b="1">
                <a:solidFill>
                  <a:srgbClr val="1A1A1A"/>
                </a:solidFill>
                <a:latin typeface="Calibri"/>
              </a:rPr>
              <a:t>Squad fracionado · Time &amp; investimento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07040" y="320040"/>
            <a:ext cx="1280160" cy="109728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r"/>
            <a:r>
              <a:rPr sz="8000" b="1">
                <a:solidFill>
                  <a:srgbClr val="F4F4F4"/>
                </a:solidFill>
                <a:latin typeface="Calibri"/>
              </a:rPr>
              <a:t>05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691640"/>
            <a:ext cx="7315200" cy="36576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200" b="1">
                <a:solidFill>
                  <a:srgbClr val="8A8A8A"/>
                </a:solidFill>
                <a:latin typeface="Calibri"/>
              </a:rPr>
              <a:t>EQUIPE FIXA · NÚCLEO TÁTICO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2103120"/>
            <a:ext cx="1463040" cy="411480"/>
          </a:xfrm>
          <a:prstGeom prst="rect">
            <a:avLst/>
          </a:prstGeom>
          <a:solidFill>
            <a:srgbClr val="14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2103120"/>
            <a:ext cx="1463040" cy="411480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l"/>
            <a:r>
              <a:rPr sz="1100" b="1">
                <a:solidFill>
                  <a:srgbClr val="FFD400"/>
                </a:solidFill>
                <a:latin typeface="Calibri"/>
              </a:rPr>
              <a:t>Horas/sem</a:t>
            </a:r>
          </a:p>
        </p:txBody>
      </p:sp>
      <p:sp>
        <p:nvSpPr>
          <p:cNvPr id="10" name="Rectangle 9"/>
          <p:cNvSpPr/>
          <p:nvPr/>
        </p:nvSpPr>
        <p:spPr>
          <a:xfrm>
            <a:off x="1965960" y="2103120"/>
            <a:ext cx="3200400" cy="411480"/>
          </a:xfrm>
          <a:prstGeom prst="rect">
            <a:avLst/>
          </a:prstGeom>
          <a:solidFill>
            <a:srgbClr val="14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103120" y="2103120"/>
            <a:ext cx="3200400" cy="411480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l"/>
            <a:r>
              <a:rPr sz="1100" b="1">
                <a:solidFill>
                  <a:srgbClr val="FFD400"/>
                </a:solidFill>
                <a:latin typeface="Calibri"/>
              </a:rPr>
              <a:t>Pessoa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166360" y="2103120"/>
            <a:ext cx="3383280" cy="411480"/>
          </a:xfrm>
          <a:prstGeom prst="rect">
            <a:avLst/>
          </a:prstGeom>
          <a:solidFill>
            <a:srgbClr val="14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303520" y="2103120"/>
            <a:ext cx="3383280" cy="411480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l"/>
            <a:r>
              <a:rPr sz="1100" b="1">
                <a:solidFill>
                  <a:srgbClr val="FFD400"/>
                </a:solidFill>
                <a:latin typeface="Calibri"/>
              </a:rPr>
              <a:t>Papel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2920" y="2514600"/>
            <a:ext cx="8046720" cy="5486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2514600"/>
            <a:ext cx="1463040" cy="548640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l"/>
            <a:r>
              <a:rPr sz="1300" b="1">
                <a:solidFill>
                  <a:srgbClr val="1A1A1A"/>
                </a:solidFill>
                <a:latin typeface="Calibri"/>
              </a:rPr>
              <a:t>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103120" y="2514600"/>
            <a:ext cx="3200400" cy="548640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l"/>
            <a:r>
              <a:rPr sz="1300" b="1">
                <a:solidFill>
                  <a:srgbClr val="1A1A1A"/>
                </a:solidFill>
                <a:latin typeface="Calibri"/>
              </a:rPr>
              <a:t>Carlos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303520" y="2514600"/>
            <a:ext cx="2834640" cy="548640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l"/>
            <a:r>
              <a:rPr sz="1200" b="0">
                <a:solidFill>
                  <a:srgbClr val="4A4A4A"/>
                </a:solidFill>
                <a:latin typeface="Calibri"/>
              </a:rPr>
              <a:t>Estratégia &amp; Método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909560" y="2679192"/>
            <a:ext cx="502920" cy="228600"/>
          </a:xfrm>
          <a:prstGeom prst="roundRect">
            <a:avLst>
              <a:gd name="adj" fmla="val 40000"/>
            </a:avLst>
          </a:prstGeom>
          <a:solidFill>
            <a:srgbClr val="D9D9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909560" y="2679192"/>
            <a:ext cx="502920" cy="228600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ctr"/>
            <a:r>
              <a:rPr sz="900" b="1">
                <a:solidFill>
                  <a:srgbClr val="141414"/>
                </a:solidFill>
                <a:latin typeface="Calibri"/>
              </a:rPr>
              <a:t>OK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2920" y="3063240"/>
            <a:ext cx="8046720" cy="548640"/>
          </a:xfrm>
          <a:prstGeom prst="rect">
            <a:avLst/>
          </a:prstGeom>
          <a:solidFill>
            <a:srgbClr val="F4F4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0080" y="3063240"/>
            <a:ext cx="1463040" cy="548640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l"/>
            <a:r>
              <a:rPr sz="1300" b="1">
                <a:solidFill>
                  <a:srgbClr val="1A1A1A"/>
                </a:solidFill>
                <a:latin typeface="Calibri"/>
              </a:rPr>
              <a:t>20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103120" y="3063240"/>
            <a:ext cx="3200400" cy="548640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l"/>
            <a:r>
              <a:rPr sz="1300" b="1">
                <a:solidFill>
                  <a:srgbClr val="1A1A1A"/>
                </a:solidFill>
                <a:latin typeface="Calibri"/>
              </a:rPr>
              <a:t>Nathan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303520" y="3063240"/>
            <a:ext cx="2834640" cy="548640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l"/>
            <a:r>
              <a:rPr sz="1200" b="0">
                <a:solidFill>
                  <a:srgbClr val="4A4A4A"/>
                </a:solidFill>
                <a:latin typeface="Calibri"/>
              </a:rPr>
              <a:t>Gestor de Projetos (Fractional CAIO)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909560" y="3227832"/>
            <a:ext cx="502920" cy="228600"/>
          </a:xfrm>
          <a:prstGeom prst="roundRect">
            <a:avLst>
              <a:gd name="adj" fmla="val 40000"/>
            </a:avLst>
          </a:prstGeom>
          <a:solidFill>
            <a:srgbClr val="D9D9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909560" y="3227832"/>
            <a:ext cx="502920" cy="228600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ctr"/>
            <a:r>
              <a:rPr sz="900" b="1">
                <a:solidFill>
                  <a:srgbClr val="141414"/>
                </a:solidFill>
                <a:latin typeface="Calibri"/>
              </a:rPr>
              <a:t>OK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02920" y="3611880"/>
            <a:ext cx="8046720" cy="5486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0080" y="3611880"/>
            <a:ext cx="1463040" cy="548640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l"/>
            <a:r>
              <a:rPr sz="1300" b="1">
                <a:solidFill>
                  <a:srgbClr val="1A1A1A"/>
                </a:solidFill>
                <a:latin typeface="Calibri"/>
              </a:rPr>
              <a:t>40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103120" y="3611880"/>
            <a:ext cx="3200400" cy="548640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l"/>
            <a:r>
              <a:rPr sz="1300" b="1">
                <a:solidFill>
                  <a:srgbClr val="1A1A1A"/>
                </a:solidFill>
                <a:latin typeface="Calibri"/>
              </a:rPr>
              <a:t>Dev IA Pleno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303520" y="3611880"/>
            <a:ext cx="2834640" cy="548640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l"/>
            <a:r>
              <a:rPr sz="1200" b="0">
                <a:solidFill>
                  <a:srgbClr val="4A4A4A"/>
                </a:solidFill>
                <a:latin typeface="Calibri"/>
              </a:rPr>
              <a:t>Construtor principal · NOVO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909560" y="3776472"/>
            <a:ext cx="502920" cy="228600"/>
          </a:xfrm>
          <a:prstGeom prst="roundRect">
            <a:avLst>
              <a:gd name="adj" fmla="val 40000"/>
            </a:avLst>
          </a:prstGeom>
          <a:solidFill>
            <a:srgbClr val="FFD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909560" y="3776472"/>
            <a:ext cx="502920" cy="228600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ctr"/>
            <a:r>
              <a:rPr sz="900" b="1">
                <a:solidFill>
                  <a:srgbClr val="141414"/>
                </a:solidFill>
                <a:latin typeface="Calibri"/>
              </a:rPr>
              <a:t>NOVO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02920" y="4160520"/>
            <a:ext cx="8046720" cy="548640"/>
          </a:xfrm>
          <a:prstGeom prst="rect">
            <a:avLst/>
          </a:prstGeom>
          <a:solidFill>
            <a:srgbClr val="F4F4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40080" y="4160520"/>
            <a:ext cx="1463040" cy="548640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l"/>
            <a:r>
              <a:rPr sz="1300" b="1">
                <a:solidFill>
                  <a:srgbClr val="1A1A1A"/>
                </a:solidFill>
                <a:latin typeface="Calibri"/>
              </a:rPr>
              <a:t>40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103120" y="4160520"/>
            <a:ext cx="3200400" cy="548640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l"/>
            <a:r>
              <a:rPr sz="1300" b="1">
                <a:solidFill>
                  <a:srgbClr val="1A1A1A"/>
                </a:solidFill>
                <a:latin typeface="Calibri"/>
              </a:rPr>
              <a:t>Dev IA Júnior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303520" y="4160520"/>
            <a:ext cx="2834640" cy="548640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l"/>
            <a:r>
              <a:rPr sz="1200" b="0">
                <a:solidFill>
                  <a:srgbClr val="4A4A4A"/>
                </a:solidFill>
                <a:latin typeface="Calibri"/>
              </a:rPr>
              <a:t>Operações &amp; MLOps · NOVO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7909560" y="4325112"/>
            <a:ext cx="502920" cy="228600"/>
          </a:xfrm>
          <a:prstGeom prst="roundRect">
            <a:avLst>
              <a:gd name="adj" fmla="val 40000"/>
            </a:avLst>
          </a:prstGeom>
          <a:solidFill>
            <a:srgbClr val="FFD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909560" y="4325112"/>
            <a:ext cx="502920" cy="228600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ctr"/>
            <a:r>
              <a:rPr sz="900" b="1">
                <a:solidFill>
                  <a:srgbClr val="141414"/>
                </a:solidFill>
                <a:latin typeface="Calibri"/>
              </a:rPr>
              <a:t>NOVO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02920" y="4709160"/>
            <a:ext cx="8046720" cy="5486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40080" y="4709160"/>
            <a:ext cx="1463040" cy="548640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l"/>
            <a:r>
              <a:rPr sz="1300" b="1">
                <a:solidFill>
                  <a:srgbClr val="1A1A1A"/>
                </a:solidFill>
                <a:latin typeface="Calibri"/>
              </a:rPr>
              <a:t>sob demanda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2103120" y="4709160"/>
            <a:ext cx="3200400" cy="548640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l"/>
            <a:r>
              <a:rPr sz="1300" b="1">
                <a:solidFill>
                  <a:srgbClr val="1A1A1A"/>
                </a:solidFill>
                <a:latin typeface="Calibri"/>
              </a:rPr>
              <a:t>Engenheiros (Dados / Cloud / Integração)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303520" y="4709160"/>
            <a:ext cx="2834640" cy="548640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l"/>
            <a:r>
              <a:rPr sz="1200" b="0">
                <a:solidFill>
                  <a:srgbClr val="4A4A4A"/>
                </a:solidFill>
                <a:latin typeface="Calibri"/>
              </a:rPr>
              <a:t>Acionados pontualmente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7909560" y="4873752"/>
            <a:ext cx="502920" cy="228600"/>
          </a:xfrm>
          <a:prstGeom prst="roundRect">
            <a:avLst>
              <a:gd name="adj" fmla="val 40000"/>
            </a:avLst>
          </a:prstGeom>
          <a:solidFill>
            <a:srgbClr val="D9D9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909560" y="4873752"/>
            <a:ext cx="502920" cy="228600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ctr"/>
            <a:r>
              <a:rPr sz="900" b="1">
                <a:solidFill>
                  <a:srgbClr val="141414"/>
                </a:solidFill>
                <a:latin typeface="Calibri"/>
              </a:rPr>
              <a:t>OK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8686800" y="1691640"/>
            <a:ext cx="3108960" cy="2194560"/>
          </a:xfrm>
          <a:prstGeom prst="roundRect">
            <a:avLst>
              <a:gd name="adj" fmla="val 5000"/>
            </a:avLst>
          </a:prstGeom>
          <a:solidFill>
            <a:srgbClr val="F4F4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8686800" y="1691640"/>
            <a:ext cx="3108960" cy="365760"/>
          </a:xfrm>
          <a:prstGeom prst="rect">
            <a:avLst/>
          </a:prstGeom>
          <a:solidFill>
            <a:srgbClr val="14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8686800" y="1691640"/>
            <a:ext cx="3108960" cy="365760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ctr"/>
            <a:r>
              <a:rPr sz="1200" b="1">
                <a:solidFill>
                  <a:srgbClr val="FFD400"/>
                </a:solidFill>
                <a:latin typeface="Calibri"/>
              </a:rPr>
              <a:t>STACK</a:t>
            </a:r>
          </a:p>
        </p:txBody>
      </p:sp>
      <p:sp>
        <p:nvSpPr>
          <p:cNvPr id="47" name="Oval 46"/>
          <p:cNvSpPr/>
          <p:nvPr/>
        </p:nvSpPr>
        <p:spPr>
          <a:xfrm>
            <a:off x="8915400" y="2313432"/>
            <a:ext cx="109728" cy="109728"/>
          </a:xfrm>
          <a:prstGeom prst="ellipse">
            <a:avLst/>
          </a:prstGeom>
          <a:solidFill>
            <a:srgbClr val="FFD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9144000" y="2194560"/>
            <a:ext cx="2560320" cy="36576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200" b="0">
                <a:solidFill>
                  <a:srgbClr val="4A4A4A"/>
                </a:solidFill>
                <a:latin typeface="Calibri"/>
              </a:rPr>
              <a:t>Servidores dedicados</a:t>
            </a:r>
          </a:p>
        </p:txBody>
      </p:sp>
      <p:sp>
        <p:nvSpPr>
          <p:cNvPr id="49" name="Oval 48"/>
          <p:cNvSpPr/>
          <p:nvPr/>
        </p:nvSpPr>
        <p:spPr>
          <a:xfrm>
            <a:off x="8915400" y="2816352"/>
            <a:ext cx="109728" cy="109728"/>
          </a:xfrm>
          <a:prstGeom prst="ellipse">
            <a:avLst/>
          </a:prstGeom>
          <a:solidFill>
            <a:srgbClr val="FFD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9144000" y="2697480"/>
            <a:ext cx="2560320" cy="36576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200" b="0">
                <a:solidFill>
                  <a:srgbClr val="4A4A4A"/>
                </a:solidFill>
                <a:latin typeface="Calibri"/>
              </a:rPr>
              <a:t>Licenças homologadas</a:t>
            </a:r>
          </a:p>
        </p:txBody>
      </p:sp>
      <p:sp>
        <p:nvSpPr>
          <p:cNvPr id="51" name="Oval 50"/>
          <p:cNvSpPr/>
          <p:nvPr/>
        </p:nvSpPr>
        <p:spPr>
          <a:xfrm>
            <a:off x="8915400" y="3319272"/>
            <a:ext cx="109728" cy="109728"/>
          </a:xfrm>
          <a:prstGeom prst="ellipse">
            <a:avLst/>
          </a:prstGeom>
          <a:solidFill>
            <a:srgbClr val="FFD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9144000" y="3200400"/>
            <a:ext cx="2560320" cy="36576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200" b="0">
                <a:solidFill>
                  <a:srgbClr val="4A4A4A"/>
                </a:solidFill>
                <a:latin typeface="Calibri"/>
              </a:rPr>
              <a:t>Ambiente seguro &amp; auditável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8686800" y="4114800"/>
            <a:ext cx="3108960" cy="2148840"/>
          </a:xfrm>
          <a:prstGeom prst="roundRect">
            <a:avLst>
              <a:gd name="adj" fmla="val 5000"/>
            </a:avLst>
          </a:prstGeom>
          <a:solidFill>
            <a:srgbClr val="14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8686800" y="4114800"/>
            <a:ext cx="137160" cy="2148840"/>
          </a:xfrm>
          <a:prstGeom prst="rect">
            <a:avLst/>
          </a:prstGeom>
          <a:solidFill>
            <a:srgbClr val="FFD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8961120" y="4297680"/>
            <a:ext cx="2743200" cy="36576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100" b="1">
                <a:solidFill>
                  <a:srgbClr val="FFD400"/>
                </a:solidFill>
                <a:latin typeface="Calibri"/>
              </a:rPr>
              <a:t>INVESTIMENTO ADICIONAL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8961120" y="4617720"/>
            <a:ext cx="2743200" cy="82296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Calibri"/>
              </a:rPr>
              <a:t>R$ 20.000</a:t>
            </a:r>
            <a:r>
              <a:rPr sz="1600" b="0">
                <a:solidFill>
                  <a:srgbClr val="D9D9D9"/>
                </a:solidFill>
                <a:latin typeface="Calibri"/>
              </a:rPr>
              <a:t> /mês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8961120" y="5486400"/>
            <a:ext cx="2743200" cy="73152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000" b="0">
                <a:solidFill>
                  <a:srgbClr val="D9D9D9"/>
                </a:solidFill>
                <a:latin typeface="Calibri"/>
              </a:rPr>
              <a:t>Engenheiros e cientistas seniores ficam sob demanda — elasticidade técnica.</a:t>
            </a:r>
          </a:p>
        </p:txBody>
      </p:sp>
      <p:cxnSp>
        <p:nvCxnSpPr>
          <p:cNvPr id="58" name="Connector 57"/>
          <p:cNvCxnSpPr/>
          <p:nvPr/>
        </p:nvCxnSpPr>
        <p:spPr>
          <a:xfrm>
            <a:off x="457200" y="6446520"/>
            <a:ext cx="11274552" cy="0"/>
          </a:xfrm>
          <a:prstGeom prst="line">
            <a:avLst/>
          </a:prstGeom>
          <a:ln w="9525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59" name="Picture 58" descr="logo_pe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6519672"/>
            <a:ext cx="278407" cy="256032"/>
          </a:xfrm>
          <a:prstGeom prst="rect">
            <a:avLst/>
          </a:prstGeom>
        </p:spPr>
      </p:pic>
      <p:sp>
        <p:nvSpPr>
          <p:cNvPr id="60" name="TextBox 59"/>
          <p:cNvSpPr txBox="1"/>
          <p:nvPr/>
        </p:nvSpPr>
        <p:spPr>
          <a:xfrm>
            <a:off x="1051560" y="6519672"/>
            <a:ext cx="1828800" cy="27432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100" b="1">
                <a:solidFill>
                  <a:srgbClr val="8A8A8A"/>
                </a:solidFill>
                <a:latin typeface="Calibri"/>
              </a:rPr>
              <a:t>|  AIFT</a:t>
            </a:r>
          </a:p>
        </p:txBody>
      </p:sp>
      <p:sp>
        <p:nvSpPr>
          <p:cNvPr id="61" name="Oval 60"/>
          <p:cNvSpPr/>
          <p:nvPr/>
        </p:nvSpPr>
        <p:spPr>
          <a:xfrm>
            <a:off x="6053328" y="6592824"/>
            <a:ext cx="91440" cy="91440"/>
          </a:xfrm>
          <a:prstGeom prst="ellipse">
            <a:avLst/>
          </a:prstGeom>
          <a:solidFill>
            <a:srgbClr val="FFD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10515600" y="6519672"/>
            <a:ext cx="1216152" cy="27432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r"/>
            <a:r>
              <a:rPr sz="1100" b="1">
                <a:solidFill>
                  <a:srgbClr val="8A8A8A"/>
                </a:solidFill>
                <a:latin typeface="Calibri"/>
              </a:rPr>
              <a:t>08 / 11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8686800" y="6519672"/>
            <a:ext cx="1828800" cy="27432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r"/>
            <a:r>
              <a:rPr sz="1000" b="0">
                <a:solidFill>
                  <a:srgbClr val="8A8A8A"/>
                </a:solidFill>
                <a:latin typeface="Calibri"/>
              </a:rPr>
              <a:t>Confidencial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502920"/>
            <a:ext cx="73152" cy="502920"/>
          </a:xfrm>
          <a:prstGeom prst="rect">
            <a:avLst/>
          </a:prstGeom>
          <a:solidFill>
            <a:srgbClr val="FFD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457200"/>
            <a:ext cx="7315200" cy="32004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200" b="1">
                <a:solidFill>
                  <a:srgbClr val="8A8A8A"/>
                </a:solidFill>
                <a:latin typeface="Calibri"/>
              </a:rPr>
              <a:t>BLOCO 06 · AJUSTE DE DIRETORIA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713232"/>
            <a:ext cx="10058400" cy="64008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3200" b="1">
                <a:solidFill>
                  <a:srgbClr val="1A1A1A"/>
                </a:solidFill>
                <a:latin typeface="Calibri"/>
              </a:rPr>
              <a:t>Diretoria de Receita &amp; Inovação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07040" y="320040"/>
            <a:ext cx="1280160" cy="109728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r"/>
            <a:r>
              <a:rPr sz="8000" b="1">
                <a:solidFill>
                  <a:srgbClr val="F4F4F4"/>
                </a:solidFill>
                <a:latin typeface="Calibri"/>
              </a:rPr>
              <a:t>06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0" y="1920240"/>
            <a:ext cx="2606040" cy="822960"/>
          </a:xfrm>
          <a:prstGeom prst="roundRect">
            <a:avLst>
              <a:gd name="adj" fmla="val 5000"/>
            </a:avLst>
          </a:prstGeom>
          <a:solidFill>
            <a:srgbClr val="14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0" y="1920240"/>
            <a:ext cx="109728" cy="822960"/>
          </a:xfrm>
          <a:prstGeom prst="rect">
            <a:avLst/>
          </a:prstGeom>
          <a:solidFill>
            <a:srgbClr val="FFD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257800" y="2011680"/>
            <a:ext cx="2331720" cy="27432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000" b="1">
                <a:solidFill>
                  <a:srgbClr val="FFD400"/>
                </a:solidFill>
                <a:latin typeface="Calibri"/>
              </a:rPr>
              <a:t>DIRETOR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257800" y="2240280"/>
            <a:ext cx="2331720" cy="45720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Calibri"/>
              </a:rPr>
              <a:t>Carlos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1523847.5" y="3017520"/>
            <a:ext cx="9144000.0" cy="0"/>
          </a:xfrm>
          <a:prstGeom prst="line">
            <a:avLst/>
          </a:prstGeom>
          <a:ln w="19050">
            <a:solidFill>
              <a:srgbClr val="8A8A8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6332220.0" y="2743200"/>
            <a:ext cx="0.0" cy="274320"/>
          </a:xfrm>
          <a:prstGeom prst="line">
            <a:avLst/>
          </a:prstGeom>
          <a:ln w="19050">
            <a:solidFill>
              <a:srgbClr val="8A8A8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1523847.5" y="3017520"/>
            <a:ext cx="0.0" cy="822960"/>
          </a:xfrm>
          <a:prstGeom prst="line">
            <a:avLst/>
          </a:prstGeom>
          <a:ln w="19050">
            <a:solidFill>
              <a:srgbClr val="8A8A8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449427" y="3840480"/>
            <a:ext cx="2148840" cy="960120"/>
          </a:xfrm>
          <a:prstGeom prst="roundRect">
            <a:avLst>
              <a:gd name="adj" fmla="val 5000"/>
            </a:avLst>
          </a:prstGeom>
          <a:solidFill>
            <a:srgbClr val="F4F4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49427" y="3840480"/>
            <a:ext cx="2148840" cy="45720"/>
          </a:xfrm>
          <a:prstGeom prst="rect">
            <a:avLst/>
          </a:prstGeom>
          <a:solidFill>
            <a:srgbClr val="14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86587" y="3931920"/>
            <a:ext cx="1965960" cy="32004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900" b="1">
                <a:solidFill>
                  <a:srgbClr val="8A8A8A"/>
                </a:solidFill>
                <a:latin typeface="Calibri"/>
              </a:rPr>
              <a:t>HEAD GROWTH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86587" y="4206240"/>
            <a:ext cx="1965960" cy="45720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800" b="1">
                <a:solidFill>
                  <a:srgbClr val="1A1A1A"/>
                </a:solidFill>
                <a:latin typeface="Calibri"/>
              </a:rPr>
              <a:t>Wagner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3809847.5" y="3017520"/>
            <a:ext cx="0.0" cy="822960"/>
          </a:xfrm>
          <a:prstGeom prst="line">
            <a:avLst/>
          </a:prstGeom>
          <a:ln w="19050">
            <a:solidFill>
              <a:srgbClr val="8A8A8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2735427" y="3840480"/>
            <a:ext cx="2148840" cy="960120"/>
          </a:xfrm>
          <a:prstGeom prst="roundRect">
            <a:avLst>
              <a:gd name="adj" fmla="val 5000"/>
            </a:avLst>
          </a:prstGeom>
          <a:solidFill>
            <a:srgbClr val="F4F4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2735427" y="3840480"/>
            <a:ext cx="2148840" cy="45720"/>
          </a:xfrm>
          <a:prstGeom prst="rect">
            <a:avLst/>
          </a:prstGeom>
          <a:solidFill>
            <a:srgbClr val="14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872587" y="3931920"/>
            <a:ext cx="1965960" cy="32004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900" b="1">
                <a:solidFill>
                  <a:srgbClr val="8A8A8A"/>
                </a:solidFill>
                <a:latin typeface="Calibri"/>
              </a:rPr>
              <a:t>HEAD COMERCIAL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872587" y="4206240"/>
            <a:ext cx="1965960" cy="45720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800" b="1">
                <a:solidFill>
                  <a:srgbClr val="1A1A1A"/>
                </a:solidFill>
                <a:latin typeface="Calibri"/>
              </a:rPr>
              <a:t>Thiago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6095847.5" y="3017520"/>
            <a:ext cx="0.0" cy="822960"/>
          </a:xfrm>
          <a:prstGeom prst="line">
            <a:avLst/>
          </a:prstGeom>
          <a:ln w="19050">
            <a:solidFill>
              <a:srgbClr val="8A8A8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5021427" y="3840480"/>
            <a:ext cx="2148840" cy="960120"/>
          </a:xfrm>
          <a:prstGeom prst="roundRect">
            <a:avLst>
              <a:gd name="adj" fmla="val 5000"/>
            </a:avLst>
          </a:prstGeom>
          <a:solidFill>
            <a:srgbClr val="F4F4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5021427" y="3840480"/>
            <a:ext cx="2148840" cy="45720"/>
          </a:xfrm>
          <a:prstGeom prst="rect">
            <a:avLst/>
          </a:prstGeom>
          <a:solidFill>
            <a:srgbClr val="14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158587" y="3931920"/>
            <a:ext cx="1965960" cy="32004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900" b="1">
                <a:solidFill>
                  <a:srgbClr val="8A8A8A"/>
                </a:solidFill>
                <a:latin typeface="Calibri"/>
              </a:rPr>
              <a:t>HEAD COMUNIC. MARCA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158587" y="4206240"/>
            <a:ext cx="1965960" cy="45720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800" b="1">
                <a:solidFill>
                  <a:srgbClr val="1A1A1A"/>
                </a:solidFill>
                <a:latin typeface="Calibri"/>
              </a:rPr>
              <a:t>Paulo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6095847.5" y="4800600"/>
            <a:ext cx="0.0" cy="182880"/>
          </a:xfrm>
          <a:prstGeom prst="line">
            <a:avLst/>
          </a:prstGeom>
          <a:ln w="12700">
            <a:solidFill>
              <a:srgbClr val="8A8A8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ounded Rectangle 28"/>
          <p:cNvSpPr/>
          <p:nvPr/>
        </p:nvSpPr>
        <p:spPr>
          <a:xfrm>
            <a:off x="5204307" y="4983480"/>
            <a:ext cx="1783080" cy="6400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204307" y="5029200"/>
            <a:ext cx="1783080" cy="27432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ctr"/>
            <a:r>
              <a:rPr sz="900" b="1">
                <a:solidFill>
                  <a:srgbClr val="8A8A8A"/>
                </a:solidFill>
                <a:latin typeface="Calibri"/>
              </a:rPr>
              <a:t>LÍDER SAL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204307" y="5257800"/>
            <a:ext cx="1783080" cy="36576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ctr"/>
            <a:r>
              <a:rPr sz="1400" b="1">
                <a:solidFill>
                  <a:srgbClr val="1A1A1A"/>
                </a:solidFill>
                <a:latin typeface="Calibri"/>
              </a:rPr>
              <a:t>Isabella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8381847.5" y="3017520"/>
            <a:ext cx="0.0" cy="822960"/>
          </a:xfrm>
          <a:prstGeom prst="line">
            <a:avLst/>
          </a:prstGeom>
          <a:ln w="19050">
            <a:solidFill>
              <a:srgbClr val="8A8A8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Rounded Rectangle 32"/>
          <p:cNvSpPr/>
          <p:nvPr/>
        </p:nvSpPr>
        <p:spPr>
          <a:xfrm>
            <a:off x="7307427" y="3840480"/>
            <a:ext cx="2148840" cy="9601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25400">
            <a:solidFill>
              <a:srgbClr val="FFD4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7307427" y="3840480"/>
            <a:ext cx="2148840" cy="45720"/>
          </a:xfrm>
          <a:prstGeom prst="rect">
            <a:avLst/>
          </a:prstGeom>
          <a:solidFill>
            <a:srgbClr val="FFD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444587" y="3931920"/>
            <a:ext cx="1965960" cy="32004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900" b="1">
                <a:solidFill>
                  <a:srgbClr val="8A8A8A"/>
                </a:solidFill>
                <a:latin typeface="Calibri"/>
              </a:rPr>
              <a:t>HEAD GOV. ESTRATÉGICA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444587" y="4206240"/>
            <a:ext cx="1965960" cy="45720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800" b="1">
                <a:solidFill>
                  <a:srgbClr val="1A1A1A"/>
                </a:solidFill>
                <a:latin typeface="Calibri"/>
              </a:rPr>
              <a:t>Rayane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8587587" y="4507992"/>
            <a:ext cx="777240" cy="228600"/>
          </a:xfrm>
          <a:prstGeom prst="roundRect">
            <a:avLst>
              <a:gd name="adj" fmla="val 40000"/>
            </a:avLst>
          </a:prstGeom>
          <a:solidFill>
            <a:srgbClr val="FFD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587587" y="4507992"/>
            <a:ext cx="777240" cy="228600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ctr"/>
            <a:r>
              <a:rPr sz="800" b="1">
                <a:solidFill>
                  <a:srgbClr val="141414"/>
                </a:solidFill>
                <a:latin typeface="Calibri"/>
              </a:rPr>
              <a:t>A SOLICITAR</a:t>
            </a:r>
          </a:p>
        </p:txBody>
      </p:sp>
      <p:cxnSp>
        <p:nvCxnSpPr>
          <p:cNvPr id="39" name="Connector 38"/>
          <p:cNvCxnSpPr/>
          <p:nvPr/>
        </p:nvCxnSpPr>
        <p:spPr>
          <a:xfrm>
            <a:off x="10667847.5" y="3017520"/>
            <a:ext cx="0.0" cy="822960"/>
          </a:xfrm>
          <a:prstGeom prst="line">
            <a:avLst/>
          </a:prstGeom>
          <a:ln w="19050">
            <a:solidFill>
              <a:srgbClr val="8A8A8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Rounded Rectangle 39"/>
          <p:cNvSpPr/>
          <p:nvPr/>
        </p:nvSpPr>
        <p:spPr>
          <a:xfrm>
            <a:off x="9593427" y="3840480"/>
            <a:ext cx="2148840" cy="9601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25400">
            <a:solidFill>
              <a:srgbClr val="FFD4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9593427" y="3840480"/>
            <a:ext cx="2148840" cy="45720"/>
          </a:xfrm>
          <a:prstGeom prst="rect">
            <a:avLst/>
          </a:prstGeom>
          <a:solidFill>
            <a:srgbClr val="FFD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9730587" y="3931920"/>
            <a:ext cx="1965960" cy="32004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900" b="1">
                <a:solidFill>
                  <a:srgbClr val="8A8A8A"/>
                </a:solidFill>
                <a:latin typeface="Calibri"/>
              </a:rPr>
              <a:t>HEAD IA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730587" y="4206240"/>
            <a:ext cx="1965960" cy="45720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800" b="1">
                <a:solidFill>
                  <a:srgbClr val="1A1A1A"/>
                </a:solidFill>
                <a:latin typeface="Calibri"/>
              </a:rPr>
              <a:t>Nathan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10873587" y="4507992"/>
            <a:ext cx="777240" cy="228600"/>
          </a:xfrm>
          <a:prstGeom prst="roundRect">
            <a:avLst>
              <a:gd name="adj" fmla="val 40000"/>
            </a:avLst>
          </a:prstGeom>
          <a:solidFill>
            <a:srgbClr val="FFD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10873587" y="4507992"/>
            <a:ext cx="777240" cy="228600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ctr"/>
            <a:r>
              <a:rPr sz="800" b="1">
                <a:solidFill>
                  <a:srgbClr val="141414"/>
                </a:solidFill>
                <a:latin typeface="Calibri"/>
              </a:rPr>
              <a:t>A SOLICITAR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02920" y="6035040"/>
            <a:ext cx="7315200" cy="27432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400" b="1">
                <a:solidFill>
                  <a:srgbClr val="FFD400"/>
                </a:solidFill>
                <a:latin typeface="Calibri"/>
              </a:rPr>
              <a:t>● </a:t>
            </a:r>
            <a:r>
              <a:rPr sz="1100" b="0">
                <a:solidFill>
                  <a:srgbClr val="4A4A4A"/>
                </a:solidFill>
                <a:latin typeface="Calibri"/>
              </a:rPr>
              <a:t>Posições novas a solicitar  </a:t>
            </a:r>
            <a:r>
              <a:rPr sz="1400" b="1">
                <a:solidFill>
                  <a:srgbClr val="141414"/>
                </a:solidFill>
                <a:latin typeface="Calibri"/>
              </a:rPr>
              <a:t>● </a:t>
            </a:r>
            <a:r>
              <a:rPr sz="1100" b="0">
                <a:solidFill>
                  <a:srgbClr val="4A4A4A"/>
                </a:solidFill>
                <a:latin typeface="Calibri"/>
              </a:rPr>
              <a:t>Time atual</a:t>
            </a:r>
          </a:p>
        </p:txBody>
      </p:sp>
      <p:cxnSp>
        <p:nvCxnSpPr>
          <p:cNvPr id="47" name="Connector 46"/>
          <p:cNvCxnSpPr/>
          <p:nvPr/>
        </p:nvCxnSpPr>
        <p:spPr>
          <a:xfrm>
            <a:off x="457200" y="6446520"/>
            <a:ext cx="11274552" cy="0"/>
          </a:xfrm>
          <a:prstGeom prst="line">
            <a:avLst/>
          </a:prstGeom>
          <a:ln w="9525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48" name="Picture 47" descr="logo_pe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6519672"/>
            <a:ext cx="278407" cy="256032"/>
          </a:xfrm>
          <a:prstGeom prst="rect">
            <a:avLst/>
          </a:prstGeom>
        </p:spPr>
      </p:pic>
      <p:sp>
        <p:nvSpPr>
          <p:cNvPr id="49" name="TextBox 48"/>
          <p:cNvSpPr txBox="1"/>
          <p:nvPr/>
        </p:nvSpPr>
        <p:spPr>
          <a:xfrm>
            <a:off x="1051560" y="6519672"/>
            <a:ext cx="1828800" cy="27432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100" b="1">
                <a:solidFill>
                  <a:srgbClr val="8A8A8A"/>
                </a:solidFill>
                <a:latin typeface="Calibri"/>
              </a:rPr>
              <a:t>|  AIFT</a:t>
            </a:r>
          </a:p>
        </p:txBody>
      </p:sp>
      <p:sp>
        <p:nvSpPr>
          <p:cNvPr id="50" name="Oval 49"/>
          <p:cNvSpPr/>
          <p:nvPr/>
        </p:nvSpPr>
        <p:spPr>
          <a:xfrm>
            <a:off x="6053328" y="6592824"/>
            <a:ext cx="91440" cy="91440"/>
          </a:xfrm>
          <a:prstGeom prst="ellipse">
            <a:avLst/>
          </a:prstGeom>
          <a:solidFill>
            <a:srgbClr val="FFD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10515600" y="6519672"/>
            <a:ext cx="1216152" cy="27432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r"/>
            <a:r>
              <a:rPr sz="1100" b="1">
                <a:solidFill>
                  <a:srgbClr val="8A8A8A"/>
                </a:solidFill>
                <a:latin typeface="Calibri"/>
              </a:rPr>
              <a:t>09 / 11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686800" y="6519672"/>
            <a:ext cx="1828800" cy="27432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r"/>
            <a:r>
              <a:rPr sz="1000" b="0">
                <a:solidFill>
                  <a:srgbClr val="8A8A8A"/>
                </a:solidFill>
                <a:latin typeface="Calibri"/>
              </a:rPr>
              <a:t>Confidencial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502920"/>
            <a:ext cx="73152" cy="502920"/>
          </a:xfrm>
          <a:prstGeom prst="rect">
            <a:avLst/>
          </a:prstGeom>
          <a:solidFill>
            <a:srgbClr val="FFD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457200"/>
            <a:ext cx="7315200" cy="32004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200" b="1">
                <a:solidFill>
                  <a:srgbClr val="8A8A8A"/>
                </a:solidFill>
                <a:latin typeface="Calibri"/>
              </a:rPr>
              <a:t>BLOCO 07 · EXPECTATIVAS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713232"/>
            <a:ext cx="10058400" cy="64008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3200" b="1">
                <a:solidFill>
                  <a:srgbClr val="1A1A1A"/>
                </a:solidFill>
                <a:latin typeface="Calibri"/>
              </a:rPr>
              <a:t>Os 5 ganhos esperados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07040" y="320040"/>
            <a:ext cx="1280160" cy="109728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r"/>
            <a:r>
              <a:rPr sz="8000" b="1">
                <a:solidFill>
                  <a:srgbClr val="F4F4F4"/>
                </a:solidFill>
                <a:latin typeface="Calibri"/>
              </a:rPr>
              <a:t>07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828800"/>
            <a:ext cx="3703320" cy="2103120"/>
          </a:xfrm>
          <a:prstGeom prst="roundRect">
            <a:avLst>
              <a:gd name="adj" fmla="val 4000"/>
            </a:avLst>
          </a:prstGeom>
          <a:solidFill>
            <a:srgbClr val="F4F4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77240" y="2103120"/>
            <a:ext cx="777240" cy="777240"/>
          </a:xfrm>
          <a:prstGeom prst="ellipse">
            <a:avLst/>
          </a:prstGeom>
          <a:solidFill>
            <a:srgbClr val="14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2103120"/>
            <a:ext cx="777240" cy="777240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ctr"/>
            <a:r>
              <a:rPr sz="2800" b="1">
                <a:solidFill>
                  <a:srgbClr val="FFD400"/>
                </a:solidFill>
                <a:latin typeface="Calibri"/>
              </a:rPr>
              <a:t>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971800"/>
            <a:ext cx="3154680" cy="50292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800" b="1">
                <a:solidFill>
                  <a:srgbClr val="1A1A1A"/>
                </a:solidFill>
                <a:latin typeface="Calibri"/>
              </a:rPr>
              <a:t>Processos Lisos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3429000"/>
            <a:ext cx="365760" cy="36576"/>
          </a:xfrm>
          <a:prstGeom prst="rect">
            <a:avLst/>
          </a:prstGeom>
          <a:solidFill>
            <a:srgbClr val="FFD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3520440"/>
            <a:ext cx="3154680" cy="41148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100" b="0">
                <a:solidFill>
                  <a:srgbClr val="4A4A4A"/>
                </a:solidFill>
                <a:latin typeface="Calibri"/>
              </a:rPr>
              <a:t>Fluxos limpos, padronizados e medidos antes de automatizar.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43400" y="1828800"/>
            <a:ext cx="3703320" cy="2103120"/>
          </a:xfrm>
          <a:prstGeom prst="roundRect">
            <a:avLst>
              <a:gd name="adj" fmla="val 4000"/>
            </a:avLst>
          </a:prstGeom>
          <a:solidFill>
            <a:srgbClr val="F4F4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4617720" y="2103120"/>
            <a:ext cx="777240" cy="777240"/>
          </a:xfrm>
          <a:prstGeom prst="ellipse">
            <a:avLst/>
          </a:prstGeom>
          <a:solidFill>
            <a:srgbClr val="14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617720" y="2103120"/>
            <a:ext cx="777240" cy="777240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ctr"/>
            <a:r>
              <a:rPr sz="2800" b="1">
                <a:solidFill>
                  <a:srgbClr val="FFD400"/>
                </a:solidFill>
                <a:latin typeface="Calibri"/>
              </a:rPr>
              <a:t>B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17720" y="2971800"/>
            <a:ext cx="3154680" cy="50292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800" b="1">
                <a:solidFill>
                  <a:srgbClr val="1A1A1A"/>
                </a:solidFill>
                <a:latin typeface="Calibri"/>
              </a:rPr>
              <a:t>Automatização do Repetitivo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617720" y="3429000"/>
            <a:ext cx="365760" cy="36576"/>
          </a:xfrm>
          <a:prstGeom prst="rect">
            <a:avLst/>
          </a:prstGeom>
          <a:solidFill>
            <a:srgbClr val="FFD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617720" y="3520440"/>
            <a:ext cx="3154680" cy="41148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100" b="0">
                <a:solidFill>
                  <a:srgbClr val="4A4A4A"/>
                </a:solidFill>
                <a:latin typeface="Calibri"/>
              </a:rPr>
              <a:t>Tarefas de pouco raciocínio crítico saem do humano.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183880" y="1828800"/>
            <a:ext cx="3703320" cy="2103120"/>
          </a:xfrm>
          <a:prstGeom prst="roundRect">
            <a:avLst>
              <a:gd name="adj" fmla="val 4000"/>
            </a:avLst>
          </a:prstGeom>
          <a:solidFill>
            <a:srgbClr val="F4F4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8458200" y="2103120"/>
            <a:ext cx="777240" cy="777240"/>
          </a:xfrm>
          <a:prstGeom prst="ellipse">
            <a:avLst/>
          </a:prstGeom>
          <a:solidFill>
            <a:srgbClr val="14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458200" y="2103120"/>
            <a:ext cx="777240" cy="777240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ctr"/>
            <a:r>
              <a:rPr sz="2800" b="1">
                <a:solidFill>
                  <a:srgbClr val="FFD400"/>
                </a:solidFill>
                <a:latin typeface="Calibri"/>
              </a:rPr>
              <a:t>C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58200" y="2971800"/>
            <a:ext cx="3154680" cy="50292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800" b="1">
                <a:solidFill>
                  <a:srgbClr val="1A1A1A"/>
                </a:solidFill>
                <a:latin typeface="Calibri"/>
              </a:rPr>
              <a:t>Potencializar Talentos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458200" y="3429000"/>
            <a:ext cx="365760" cy="36576"/>
          </a:xfrm>
          <a:prstGeom prst="rect">
            <a:avLst/>
          </a:prstGeom>
          <a:solidFill>
            <a:srgbClr val="FFD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458200" y="3520440"/>
            <a:ext cx="3154680" cy="41148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100" b="0">
                <a:solidFill>
                  <a:srgbClr val="4A4A4A"/>
                </a:solidFill>
                <a:latin typeface="Calibri"/>
              </a:rPr>
              <a:t>Especialistas livres para julgamento, empatia e estratégia.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02920" y="4096512"/>
            <a:ext cx="3703320" cy="2103120"/>
          </a:xfrm>
          <a:prstGeom prst="roundRect">
            <a:avLst>
              <a:gd name="adj" fmla="val 4000"/>
            </a:avLst>
          </a:prstGeom>
          <a:solidFill>
            <a:srgbClr val="F4F4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777240" y="4370832"/>
            <a:ext cx="777240" cy="777240"/>
          </a:xfrm>
          <a:prstGeom prst="ellipse">
            <a:avLst/>
          </a:prstGeom>
          <a:solidFill>
            <a:srgbClr val="14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77240" y="4370832"/>
            <a:ext cx="777240" cy="777240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ctr"/>
            <a:r>
              <a:rPr sz="2800" b="1">
                <a:solidFill>
                  <a:srgbClr val="FFD400"/>
                </a:solidFill>
                <a:latin typeface="Calibri"/>
              </a:rPr>
              <a:t>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77240" y="5239512"/>
            <a:ext cx="3154680" cy="50292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800" b="1">
                <a:solidFill>
                  <a:srgbClr val="1A1A1A"/>
                </a:solidFill>
                <a:latin typeface="Calibri"/>
              </a:rPr>
              <a:t>Ganho de Qualidade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77240" y="5696712"/>
            <a:ext cx="365760" cy="36576"/>
          </a:xfrm>
          <a:prstGeom prst="rect">
            <a:avLst/>
          </a:prstGeom>
          <a:solidFill>
            <a:srgbClr val="FFD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77240" y="5788152"/>
            <a:ext cx="3154680" cy="41148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100" b="0">
                <a:solidFill>
                  <a:srgbClr val="4A4A4A"/>
                </a:solidFill>
                <a:latin typeface="Calibri"/>
              </a:rPr>
              <a:t>Melhor serviço clínico e operação mais previsível.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343400" y="4096512"/>
            <a:ext cx="3703320" cy="2103120"/>
          </a:xfrm>
          <a:prstGeom prst="roundRect">
            <a:avLst>
              <a:gd name="adj" fmla="val 4000"/>
            </a:avLst>
          </a:prstGeom>
          <a:solidFill>
            <a:srgbClr val="F4F4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4617720" y="4370832"/>
            <a:ext cx="777240" cy="777240"/>
          </a:xfrm>
          <a:prstGeom prst="ellipse">
            <a:avLst/>
          </a:prstGeom>
          <a:solidFill>
            <a:srgbClr val="14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617720" y="4370832"/>
            <a:ext cx="777240" cy="777240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ctr"/>
            <a:r>
              <a:rPr sz="2800" b="1">
                <a:solidFill>
                  <a:srgbClr val="FFD400"/>
                </a:solidFill>
                <a:latin typeface="Calibri"/>
              </a:rPr>
              <a:t>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617720" y="5239512"/>
            <a:ext cx="3154680" cy="50292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800" b="1">
                <a:solidFill>
                  <a:srgbClr val="1A1A1A"/>
                </a:solidFill>
                <a:latin typeface="Calibri"/>
              </a:rPr>
              <a:t>Receita ↑  ·  Custo ↓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617720" y="5696712"/>
            <a:ext cx="365760" cy="36576"/>
          </a:xfrm>
          <a:prstGeom prst="rect">
            <a:avLst/>
          </a:prstGeom>
          <a:solidFill>
            <a:srgbClr val="FFD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617720" y="5788152"/>
            <a:ext cx="3154680" cy="41148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100" b="0">
                <a:solidFill>
                  <a:srgbClr val="4A4A4A"/>
                </a:solidFill>
                <a:latin typeface="Calibri"/>
              </a:rPr>
              <a:t>Reposicionamento das alavancas financeiras da rede.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502920" y="6080760"/>
            <a:ext cx="11247120" cy="365760"/>
          </a:xfrm>
          <a:prstGeom prst="roundRect">
            <a:avLst>
              <a:gd name="adj" fmla="val 50000"/>
            </a:avLst>
          </a:prstGeom>
          <a:solidFill>
            <a:srgbClr val="14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02920" y="6080760"/>
            <a:ext cx="11247120" cy="365760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ctr"/>
            <a:r>
              <a:rPr sz="1000" b="1">
                <a:solidFill>
                  <a:srgbClr val="FFD400"/>
                </a:solidFill>
                <a:latin typeface="Calibri"/>
              </a:rPr>
              <a:t>Curto: </a:t>
            </a:r>
            <a:r>
              <a:rPr sz="1000" b="0">
                <a:solidFill>
                  <a:srgbClr val="FFFFFF"/>
                </a:solidFill>
                <a:latin typeface="Calibri"/>
              </a:rPr>
              <a:t>+10–15% produtividade   </a:t>
            </a:r>
            <a:r>
              <a:rPr sz="1000" b="1">
                <a:solidFill>
                  <a:srgbClr val="FFD400"/>
                </a:solidFill>
                <a:latin typeface="Calibri"/>
              </a:rPr>
              <a:t>·   Médio: </a:t>
            </a:r>
            <a:r>
              <a:rPr sz="1000" b="0">
                <a:solidFill>
                  <a:srgbClr val="FFFFFF"/>
                </a:solidFill>
                <a:latin typeface="Calibri"/>
              </a:rPr>
              <a:t>30–50% velocidade no back-office   </a:t>
            </a:r>
            <a:r>
              <a:rPr sz="1000" b="1">
                <a:solidFill>
                  <a:srgbClr val="FFD400"/>
                </a:solidFill>
                <a:latin typeface="Calibri"/>
              </a:rPr>
              <a:t>·   Longo: </a:t>
            </a:r>
            <a:r>
              <a:rPr sz="1000" b="0">
                <a:solidFill>
                  <a:srgbClr val="FFFFFF"/>
                </a:solidFill>
                <a:latin typeface="Calibri"/>
              </a:rPr>
              <a:t>AI Moat &amp; expansão de margem</a:t>
            </a:r>
          </a:p>
        </p:txBody>
      </p:sp>
      <p:cxnSp>
        <p:nvCxnSpPr>
          <p:cNvPr id="39" name="Connector 38"/>
          <p:cNvCxnSpPr/>
          <p:nvPr/>
        </p:nvCxnSpPr>
        <p:spPr>
          <a:xfrm>
            <a:off x="457200" y="6446520"/>
            <a:ext cx="11274552" cy="0"/>
          </a:xfrm>
          <a:prstGeom prst="line">
            <a:avLst/>
          </a:prstGeom>
          <a:ln w="9525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40" name="Picture 39" descr="logo_pe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6519672"/>
            <a:ext cx="278407" cy="256032"/>
          </a:xfrm>
          <a:prstGeom prst="rect">
            <a:avLst/>
          </a:prstGeom>
        </p:spPr>
      </p:pic>
      <p:sp>
        <p:nvSpPr>
          <p:cNvPr id="41" name="TextBox 40"/>
          <p:cNvSpPr txBox="1"/>
          <p:nvPr/>
        </p:nvSpPr>
        <p:spPr>
          <a:xfrm>
            <a:off x="1051560" y="6519672"/>
            <a:ext cx="1828800" cy="27432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100" b="1">
                <a:solidFill>
                  <a:srgbClr val="8A8A8A"/>
                </a:solidFill>
                <a:latin typeface="Calibri"/>
              </a:rPr>
              <a:t>|  AIFT</a:t>
            </a:r>
          </a:p>
        </p:txBody>
      </p:sp>
      <p:sp>
        <p:nvSpPr>
          <p:cNvPr id="42" name="Oval 41"/>
          <p:cNvSpPr/>
          <p:nvPr/>
        </p:nvSpPr>
        <p:spPr>
          <a:xfrm>
            <a:off x="6053328" y="6592824"/>
            <a:ext cx="91440" cy="91440"/>
          </a:xfrm>
          <a:prstGeom prst="ellipse">
            <a:avLst/>
          </a:prstGeom>
          <a:solidFill>
            <a:srgbClr val="FFD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10515600" y="6519672"/>
            <a:ext cx="1216152" cy="27432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r"/>
            <a:r>
              <a:rPr sz="1100" b="1">
                <a:solidFill>
                  <a:srgbClr val="8A8A8A"/>
                </a:solidFill>
                <a:latin typeface="Calibri"/>
              </a:rPr>
              <a:t>10 / 11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686800" y="6519672"/>
            <a:ext cx="1828800" cy="27432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r"/>
            <a:r>
              <a:rPr sz="1000" b="0">
                <a:solidFill>
                  <a:srgbClr val="8A8A8A"/>
                </a:solidFill>
                <a:latin typeface="Calibri"/>
              </a:rPr>
              <a:t>Confidencial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0515600" y="0"/>
            <a:ext cx="1673352" cy="1673352"/>
          </a:xfrm>
          <a:prstGeom prst="rect">
            <a:avLst/>
          </a:prstGeom>
          <a:solidFill>
            <a:srgbClr val="FFD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48640" y="548640"/>
            <a:ext cx="1280160" cy="12801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logo_pe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777240"/>
            <a:ext cx="894881" cy="8229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48640" y="2194560"/>
            <a:ext cx="10972800" cy="45720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400" b="1">
                <a:solidFill>
                  <a:srgbClr val="FFD400"/>
                </a:solidFill>
                <a:latin typeface="Calibri"/>
              </a:rPr>
              <a:t>PRÓXIMOS PASSOS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606040"/>
            <a:ext cx="10972800" cy="128016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3800" b="1">
                <a:solidFill>
                  <a:srgbClr val="FFFFFF"/>
                </a:solidFill>
                <a:latin typeface="Calibri"/>
              </a:rPr>
              <a:t>Aprovar célula, contratar vagas e pousar no 1º departamento.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4069080"/>
            <a:ext cx="10972800" cy="45720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600" b="0">
                <a:solidFill>
                  <a:srgbClr val="D9D9D9"/>
                </a:solidFill>
                <a:latin typeface="Calibri"/>
              </a:rPr>
              <a:t>Loop de 6 a 8 semanas · Quick Wins primeiro · Governança LGPD desde o dia 1.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4937760"/>
            <a:ext cx="3657600" cy="1188720"/>
          </a:xfrm>
          <a:prstGeom prst="roundRect">
            <a:avLst>
              <a:gd name="adj" fmla="val 5000"/>
            </a:avLst>
          </a:prstGeom>
          <a:solidFill>
            <a:srgbClr val="22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48640" y="4937760"/>
            <a:ext cx="91440" cy="1188720"/>
          </a:xfrm>
          <a:prstGeom prst="rect">
            <a:avLst/>
          </a:prstGeom>
          <a:solidFill>
            <a:srgbClr val="FFD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" y="5074920"/>
            <a:ext cx="731520" cy="36576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400" b="1">
                <a:solidFill>
                  <a:srgbClr val="FFD400"/>
                </a:solidFill>
                <a:latin typeface="Calibri"/>
              </a:rPr>
              <a:t>01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5303520"/>
            <a:ext cx="3291840" cy="45720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Calibri"/>
              </a:rPr>
              <a:t>APROVAR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5715000"/>
            <a:ext cx="3291840" cy="36576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100" b="0">
                <a:solidFill>
                  <a:srgbClr val="D9D9D9"/>
                </a:solidFill>
                <a:latin typeface="Calibri"/>
              </a:rPr>
              <a:t>Squad e investimento adicional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343400" y="4937760"/>
            <a:ext cx="3657600" cy="1188720"/>
          </a:xfrm>
          <a:prstGeom prst="roundRect">
            <a:avLst>
              <a:gd name="adj" fmla="val 5000"/>
            </a:avLst>
          </a:prstGeom>
          <a:solidFill>
            <a:srgbClr val="22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343400" y="4937760"/>
            <a:ext cx="91440" cy="1188720"/>
          </a:xfrm>
          <a:prstGeom prst="rect">
            <a:avLst/>
          </a:prstGeom>
          <a:solidFill>
            <a:srgbClr val="FFD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617720" y="5074920"/>
            <a:ext cx="731520" cy="36576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400" b="1">
                <a:solidFill>
                  <a:srgbClr val="FFD400"/>
                </a:solidFill>
                <a:latin typeface="Calibri"/>
              </a:rPr>
              <a:t>02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17720" y="5303520"/>
            <a:ext cx="3291840" cy="45720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Calibri"/>
              </a:rPr>
              <a:t>CONTRATAR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17720" y="5715000"/>
            <a:ext cx="3291840" cy="36576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100" b="0">
                <a:solidFill>
                  <a:srgbClr val="D9D9D9"/>
                </a:solidFill>
                <a:latin typeface="Calibri"/>
              </a:rPr>
              <a:t>Dev IA Pleno + Júnior + Heads sol.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138160" y="4937760"/>
            <a:ext cx="3657600" cy="1188720"/>
          </a:xfrm>
          <a:prstGeom prst="roundRect">
            <a:avLst>
              <a:gd name="adj" fmla="val 5000"/>
            </a:avLst>
          </a:prstGeom>
          <a:solidFill>
            <a:srgbClr val="22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138160" y="4937760"/>
            <a:ext cx="91440" cy="1188720"/>
          </a:xfrm>
          <a:prstGeom prst="rect">
            <a:avLst/>
          </a:prstGeom>
          <a:solidFill>
            <a:srgbClr val="FFD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412480" y="5074920"/>
            <a:ext cx="731520" cy="36576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400" b="1">
                <a:solidFill>
                  <a:srgbClr val="FFD400"/>
                </a:solidFill>
                <a:latin typeface="Calibri"/>
              </a:rPr>
              <a:t>03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412480" y="5303520"/>
            <a:ext cx="3291840" cy="45720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Calibri"/>
              </a:rPr>
              <a:t>POUSAR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412480" y="5715000"/>
            <a:ext cx="3291840" cy="36576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100" b="0">
                <a:solidFill>
                  <a:srgbClr val="D9D9D9"/>
                </a:solidFill>
                <a:latin typeface="Calibri"/>
              </a:rPr>
              <a:t>Primeira área-alvo do ciclo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8640" y="6492240"/>
            <a:ext cx="6400800" cy="27432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Calibri"/>
              </a:rPr>
              <a:t>+Pet</a:t>
            </a:r>
            <a:r>
              <a:rPr sz="1100" b="1">
                <a:solidFill>
                  <a:srgbClr val="8A8A8A"/>
                </a:solidFill>
                <a:latin typeface="Calibri"/>
              </a:rPr>
              <a:t>  |  </a:t>
            </a:r>
            <a:r>
              <a:rPr sz="1100" b="1">
                <a:solidFill>
                  <a:srgbClr val="FFD400"/>
                </a:solidFill>
                <a:latin typeface="Calibri"/>
              </a:rPr>
              <a:t>AIFT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058400" y="6492240"/>
            <a:ext cx="1673352" cy="27432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r"/>
            <a:r>
              <a:rPr sz="1100" b="1">
                <a:solidFill>
                  <a:srgbClr val="8A8A8A"/>
                </a:solidFill>
                <a:latin typeface="Calibri"/>
              </a:rPr>
              <a:t>11 / 11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