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08000"/>
            <a:ext cx="381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20">
                <a:solidFill>
                  <a:srgbClr val="F7F4EF"/>
                </a:solidFill>
                <a:latin typeface="Space Grotesk"/>
              </a:rPr>
              <a:t>The REVER</a:t>
            </a:r>
            <a:r>
              <a:rPr sz="1200" b="1">
                <a:solidFill>
                  <a:srgbClr val="168E7A"/>
                </a:solidFill>
                <a:latin typeface="Space Grotesk"/>
              </a:rPr>
              <a:t>●</a:t>
            </a:r>
            <a:r>
              <a:rPr sz="850" b="1" spc="180">
                <a:solidFill>
                  <a:srgbClr val="168E7A"/>
                </a:solidFill>
                <a:latin typeface="JetBrains Mono"/>
              </a:rPr>
              <a:t>  VET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0" y="520700"/>
            <a:ext cx="4279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200">
                <a:solidFill>
                  <a:srgbClr val="918F8C"/>
                </a:solidFill>
                <a:latin typeface="JetBrains Mono"/>
              </a:rPr>
              <a:t>PROPOSTA DE PARCERIA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9050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8E7A"/>
                </a:solidFill>
                <a:latin typeface="JetBrains Mono"/>
              </a:rPr>
              <a:t>—</a:t>
            </a:r>
            <a:r>
              <a:rPr sz="900" b="0" spc="200">
                <a:solidFill>
                  <a:srgbClr val="918F8C"/>
                </a:solidFill>
                <a:latin typeface="JetBrains Mono"/>
              </a:rPr>
              <a:t>   THE REVER + MENTORIA VETERINÁRIO EMPRESÁRIO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311400"/>
            <a:ext cx="8890000" cy="2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spc="-15">
                <a:solidFill>
                  <a:srgbClr val="F7F4EF"/>
                </a:solidFill>
                <a:latin typeface="Space Grotesk"/>
              </a:rPr>
              <a:t>Receita recorrente
não é assinatura.
É método.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4470400"/>
            <a:ext cx="6096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19F9C"/>
                </a:solidFill>
                <a:latin typeface="Space Grotesk"/>
              </a:rPr>
              <a:t>O plano de saúde próprio como motor de receita — e blindagem — da clínica veterinária.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63246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6A6967"/>
                </a:solidFill>
                <a:latin typeface="JetBrains Mono"/>
              </a:rPr>
              <a:t>CARLOS GERALDO  ·  JOÃO  ·  ALLAN  ·  HEBERT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0" y="6324600"/>
            <a:ext cx="30099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6A6967"/>
                </a:solidFill>
                <a:latin typeface="JetBrains Mono"/>
              </a:rPr>
              <a:t>JULHO 2026 ·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08000"/>
            <a:ext cx="381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20">
                <a:solidFill>
                  <a:srgbClr val="F7F4EF"/>
                </a:solidFill>
                <a:latin typeface="Space Grotesk"/>
              </a:rPr>
              <a:t>The REVER</a:t>
            </a:r>
            <a:r>
              <a:rPr sz="1200" b="1">
                <a:solidFill>
                  <a:srgbClr val="168E7A"/>
                </a:solidFill>
                <a:latin typeface="Space Grotesk"/>
              </a:rPr>
              <a:t>●</a:t>
            </a:r>
            <a:r>
              <a:rPr sz="850" b="1" spc="180">
                <a:solidFill>
                  <a:srgbClr val="168E7A"/>
                </a:solidFill>
                <a:latin typeface="JetBrains Mono"/>
              </a:rPr>
              <a:t>  VET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0" y="520700"/>
            <a:ext cx="4279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200">
                <a:solidFill>
                  <a:srgbClr val="168E7A"/>
                </a:solidFill>
                <a:latin typeface="JetBrains Mono"/>
              </a:rPr>
              <a:t>01  ·  </a:t>
            </a:r>
            <a:r>
              <a:rPr sz="900" b="0" spc="200">
                <a:solidFill>
                  <a:srgbClr val="918F8C"/>
                </a:solidFill>
                <a:latin typeface="JetBrains Mono"/>
              </a:rPr>
              <a:t>A AMEAÇA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70000"/>
            <a:ext cx="9652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10">
                <a:solidFill>
                  <a:srgbClr val="F7F4EF"/>
                </a:solidFill>
                <a:latin typeface="Space Grotesk"/>
              </a:rPr>
              <a:t>O plano de saúde pet já é realidade. E a recorrência está indo para a operadora.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2692400"/>
            <a:ext cx="3302000" cy="11430"/>
          </a:xfrm>
          <a:prstGeom prst="rect">
            <a:avLst/>
          </a:prstGeom>
          <a:solidFill>
            <a:srgbClr val="545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2870200"/>
            <a:ext cx="330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1" spc="160">
                <a:solidFill>
                  <a:srgbClr val="168E7A"/>
                </a:solidFill>
                <a:latin typeface="JetBrains Mono"/>
              </a:rPr>
              <a:t>OPERADORAS EM EXPANSÃO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5C3BF"/>
                </a:solidFill>
                <a:latin typeface="Space Grotesk"/>
              </a:rPr>
              <a:t>Petlove e as grandes redes capturam o tutor na assinatura e credenciam a clínica como prestadora.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45000" y="2692400"/>
            <a:ext cx="3302000" cy="11430"/>
          </a:xfrm>
          <a:prstGeom prst="rect">
            <a:avLst/>
          </a:prstGeom>
          <a:solidFill>
            <a:srgbClr val="545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5000" y="2870200"/>
            <a:ext cx="330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1" spc="160">
                <a:solidFill>
                  <a:srgbClr val="168E7A"/>
                </a:solidFill>
                <a:latin typeface="JetBrains Mono"/>
              </a:rPr>
              <a:t>TABELA ACHATADA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5C3BF"/>
                </a:solidFill>
                <a:latin typeface="Space Grotesk"/>
              </a:rPr>
              <a:t>Remuneração baixa por procedimento. A clínica entrega a medicina; a operadora fica com a recorrência, os dados e a relação de cobrança.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89900" y="2692400"/>
            <a:ext cx="3302000" cy="11430"/>
          </a:xfrm>
          <a:prstGeom prst="rect">
            <a:avLst/>
          </a:prstGeom>
          <a:solidFill>
            <a:srgbClr val="545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89900" y="2870200"/>
            <a:ext cx="330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1" spc="160">
                <a:solidFill>
                  <a:srgbClr val="168E7A"/>
                </a:solidFill>
                <a:latin typeface="JetBrains Mono"/>
              </a:rPr>
              <a:t>MATEMÁTICA PERVERSA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5C3BF"/>
                </a:solidFill>
                <a:latin typeface="Space Grotesk"/>
              </a:rPr>
              <a:t>Quanto maior a rede, maior o poder de barganha sobre a tabela. A clínica credenciada troca margem por volume — e vira commodity.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" y="4927600"/>
            <a:ext cx="20320" cy="736600"/>
          </a:xfrm>
          <a:prstGeom prst="rect">
            <a:avLst/>
          </a:prstGeom>
          <a:solidFill>
            <a:srgbClr val="168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4100" y="4927600"/>
            <a:ext cx="8204200" cy="736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4EF"/>
                </a:solidFill>
                <a:latin typeface="Space Grotesk"/>
              </a:rPr>
              <a:t>Cada tutor que assina o plano da operadora é um cliente da clínica que passa a ser, contratualmente, cliente de outra empresa.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63246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6A6967"/>
                </a:solidFill>
                <a:latin typeface="JetBrains Mono"/>
              </a:rPr>
              <a:t>THE REVER VET · CONFIDENCIAL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0" y="6324600"/>
            <a:ext cx="17399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6A6967"/>
                </a:solidFill>
                <a:latin typeface="JetBrains Mono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08000"/>
            <a:ext cx="381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20">
                <a:solidFill>
                  <a:srgbClr val="F7F4EF"/>
                </a:solidFill>
                <a:latin typeface="Space Grotesk"/>
              </a:rPr>
              <a:t>The REVER</a:t>
            </a:r>
            <a:r>
              <a:rPr sz="1200" b="1">
                <a:solidFill>
                  <a:srgbClr val="168E7A"/>
                </a:solidFill>
                <a:latin typeface="Space Grotesk"/>
              </a:rPr>
              <a:t>●</a:t>
            </a:r>
            <a:r>
              <a:rPr sz="850" b="1" spc="180">
                <a:solidFill>
                  <a:srgbClr val="168E7A"/>
                </a:solidFill>
                <a:latin typeface="JetBrains Mono"/>
              </a:rPr>
              <a:t>  VET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0" y="520700"/>
            <a:ext cx="4279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200">
                <a:solidFill>
                  <a:srgbClr val="168E7A"/>
                </a:solidFill>
                <a:latin typeface="JetBrains Mono"/>
              </a:rPr>
              <a:t>02  ·  </a:t>
            </a:r>
            <a:r>
              <a:rPr sz="900" b="0" spc="200">
                <a:solidFill>
                  <a:srgbClr val="918F8C"/>
                </a:solidFill>
                <a:latin typeface="JetBrains Mono"/>
              </a:rPr>
              <a:t>A ASSIMETRIA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70000"/>
            <a:ext cx="9652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10">
                <a:solidFill>
                  <a:srgbClr val="F7F4EF"/>
                </a:solidFill>
                <a:latin typeface="Space Grotesk"/>
              </a:rPr>
              <a:t>O vínculo é da clínica. A operadora não consegue copiar isso.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2540000"/>
            <a:ext cx="3302000" cy="11430"/>
          </a:xfrm>
          <a:prstGeom prst="rect">
            <a:avLst/>
          </a:prstGeom>
          <a:solidFill>
            <a:srgbClr val="545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2717800"/>
            <a:ext cx="330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1" spc="160">
                <a:solidFill>
                  <a:srgbClr val="168E7A"/>
                </a:solidFill>
                <a:latin typeface="JetBrains Mono"/>
              </a:rPr>
              <a:t>O PET NÃO PRECISA DE REDE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5C3BF"/>
                </a:solidFill>
                <a:latin typeface="Space Grotesk"/>
              </a:rPr>
              <a:t>Ele vive a poucos quilômetros da mesma clínica a vida inteira. Cobertura em várias localidades é um benefício que o tutor quase nunca usa.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45000" y="2540000"/>
            <a:ext cx="3302000" cy="11430"/>
          </a:xfrm>
          <a:prstGeom prst="rect">
            <a:avLst/>
          </a:prstGeom>
          <a:solidFill>
            <a:srgbClr val="545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5000" y="2717800"/>
            <a:ext cx="330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1" spc="160">
                <a:solidFill>
                  <a:srgbClr val="168E7A"/>
                </a:solidFill>
                <a:latin typeface="JetBrains Mono"/>
              </a:rPr>
              <a:t>PERTO E DE CONFIANÇA VENCE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5C3BF"/>
                </a:solidFill>
                <a:latin typeface="Space Grotesk"/>
              </a:rPr>
              <a:t>A decisão de saúde do pet é emocional e local: é o veterinário que conhece o pet desde filhote — não uma rede sem referência e sem relacionamento.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89900" y="2540000"/>
            <a:ext cx="3302000" cy="11430"/>
          </a:xfrm>
          <a:prstGeom prst="rect">
            <a:avLst/>
          </a:prstGeom>
          <a:solidFill>
            <a:srgbClr val="545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89900" y="2717800"/>
            <a:ext cx="330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1" spc="160">
                <a:solidFill>
                  <a:srgbClr val="168E7A"/>
                </a:solidFill>
                <a:latin typeface="JetBrains Mono"/>
              </a:rPr>
              <a:t>A CONFIANÇA JÁ ESTÁ INSTALADA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5C3BF"/>
                </a:solidFill>
                <a:latin typeface="Space Grotesk"/>
              </a:rPr>
              <a:t>A operadora paga aquisição cara pelo tutor que a clínica já atende há anos. Na disputa pelo mesmo tutor, a clínica larga na frente.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" y="5080000"/>
            <a:ext cx="20320" cy="889000"/>
          </a:xfrm>
          <a:prstGeom prst="rect">
            <a:avLst/>
          </a:prstGeom>
          <a:solidFill>
            <a:srgbClr val="168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9500" y="5080000"/>
            <a:ext cx="8382000" cy="889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5">
                <a:solidFill>
                  <a:srgbClr val="F7F4EF"/>
                </a:solidFill>
                <a:latin typeface="Space Grotesk"/>
              </a:rPr>
              <a:t>A operadora tem escala. A clínica tem o vínculo.
Recorrência se constrói em cima de vínculo.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63246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6A6967"/>
                </a:solidFill>
                <a:latin typeface="JetBrains Mono"/>
              </a:rPr>
              <a:t>THE REVER VET · CONFIDENCIAL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0" y="6324600"/>
            <a:ext cx="17399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6A6967"/>
                </a:solidFill>
                <a:latin typeface="JetBrains Mono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08000"/>
            <a:ext cx="381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20">
                <a:solidFill>
                  <a:srgbClr val="141414"/>
                </a:solidFill>
                <a:latin typeface="Space Grotesk"/>
              </a:rPr>
              <a:t>The REVER</a:t>
            </a:r>
            <a:r>
              <a:rPr sz="1200" b="1">
                <a:solidFill>
                  <a:srgbClr val="168E7A"/>
                </a:solidFill>
                <a:latin typeface="Space Grotesk"/>
              </a:rPr>
              <a:t>●</a:t>
            </a:r>
            <a:r>
              <a:rPr sz="850" b="1" spc="180">
                <a:solidFill>
                  <a:srgbClr val="168E7A"/>
                </a:solidFill>
                <a:latin typeface="JetBrains Mono"/>
              </a:rPr>
              <a:t>  VET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0" y="520700"/>
            <a:ext cx="4279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200">
                <a:solidFill>
                  <a:srgbClr val="168E7A"/>
                </a:solidFill>
                <a:latin typeface="JetBrains Mono"/>
              </a:rPr>
              <a:t>03  ·  </a:t>
            </a:r>
            <a:r>
              <a:rPr sz="900" b="0" spc="200">
                <a:solidFill>
                  <a:srgbClr val="7A7A7A"/>
                </a:solidFill>
                <a:latin typeface="JetBrains Mono"/>
              </a:rPr>
              <a:t>A RESPOSTA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397000"/>
            <a:ext cx="9652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10">
                <a:solidFill>
                  <a:srgbClr val="141414"/>
                </a:solidFill>
                <a:latin typeface="Space Grotesk"/>
              </a:rPr>
              <a:t>O plano próprio da clínica.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2540000"/>
            <a:ext cx="3302000" cy="11430"/>
          </a:xfrm>
          <a:prstGeom prst="rect">
            <a:avLst/>
          </a:prstGeom>
          <a:solidFill>
            <a:srgbClr val="C5C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2717800"/>
            <a:ext cx="330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1" spc="160">
                <a:solidFill>
                  <a:srgbClr val="168E7A"/>
                </a:solidFill>
                <a:latin typeface="JetBrains Mono"/>
              </a:rPr>
              <a:t>RECEITA RECORRENTE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A6A6A"/>
                </a:solidFill>
                <a:latin typeface="Space Grotesk"/>
              </a:rPr>
              <a:t>Previsível e contratada. Um motor que não recomeça do zero todo mês.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45000" y="2540000"/>
            <a:ext cx="3302000" cy="11430"/>
          </a:xfrm>
          <a:prstGeom prst="rect">
            <a:avLst/>
          </a:prstGeom>
          <a:solidFill>
            <a:srgbClr val="C5C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5000" y="2717800"/>
            <a:ext cx="330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1" spc="160">
                <a:solidFill>
                  <a:srgbClr val="168E7A"/>
                </a:solidFill>
                <a:latin typeface="JetBrains Mono"/>
              </a:rPr>
              <a:t>RENTABILIDADE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A6A6A"/>
                </a:solidFill>
                <a:latin typeface="Space Grotesk"/>
              </a:rPr>
              <a:t>A margem do plano fica na clínica — sem tabela de operadora no meio do caminho.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89900" y="2540000"/>
            <a:ext cx="3302000" cy="11430"/>
          </a:xfrm>
          <a:prstGeom prst="rect">
            <a:avLst/>
          </a:prstGeom>
          <a:solidFill>
            <a:srgbClr val="C5C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89900" y="2717800"/>
            <a:ext cx="330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00" b="1" spc="160">
                <a:solidFill>
                  <a:srgbClr val="168E7A"/>
                </a:solidFill>
                <a:latin typeface="JetBrains Mono"/>
              </a:rPr>
              <a:t>BLINDAGEM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A6A6A"/>
                </a:solidFill>
                <a:latin typeface="Space Grotesk"/>
              </a:rPr>
              <a:t>Tutor com plano da própria clínica não assina o da rede. A base para de vazar para fora.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" y="4318000"/>
            <a:ext cx="8890000" cy="838200"/>
          </a:xfrm>
          <a:prstGeom prst="rect">
            <a:avLst/>
          </a:prstGeom>
          <a:solidFill>
            <a:srgbClr val="E9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" y="4318000"/>
            <a:ext cx="20320" cy="838200"/>
          </a:xfrm>
          <a:prstGeom prst="rect">
            <a:avLst/>
          </a:prstGeom>
          <a:solidFill>
            <a:srgbClr val="168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4100" y="4318000"/>
            <a:ext cx="84582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Space Grotesk"/>
              </a:rPr>
              <a:t>O que falta ao veterinário empresário não é o ativo — é a competência de recorrência: desenhar o plano, precificar, vender, cobrar e reter. É essa sala que a The REVER abre.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63246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919191"/>
                </a:solidFill>
                <a:latin typeface="JetBrains Mono"/>
              </a:rPr>
              <a:t>THE REVER VET · CONFIDENCIAL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324600"/>
            <a:ext cx="17399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919191"/>
                </a:solidFill>
                <a:latin typeface="JetBrains Mono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08000"/>
            <a:ext cx="381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20">
                <a:solidFill>
                  <a:srgbClr val="F7F4EF"/>
                </a:solidFill>
                <a:latin typeface="Space Grotesk"/>
              </a:rPr>
              <a:t>The REVER</a:t>
            </a:r>
            <a:r>
              <a:rPr sz="1200" b="1">
                <a:solidFill>
                  <a:srgbClr val="168E7A"/>
                </a:solidFill>
                <a:latin typeface="Space Grotesk"/>
              </a:rPr>
              <a:t>●</a:t>
            </a:r>
            <a:r>
              <a:rPr sz="850" b="1" spc="180">
                <a:solidFill>
                  <a:srgbClr val="168E7A"/>
                </a:solidFill>
                <a:latin typeface="JetBrains Mono"/>
              </a:rPr>
              <a:t>  VET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0" y="520700"/>
            <a:ext cx="4279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200">
                <a:solidFill>
                  <a:srgbClr val="168E7A"/>
                </a:solidFill>
                <a:latin typeface="JetBrains Mono"/>
              </a:rPr>
              <a:t>04  ·  </a:t>
            </a:r>
            <a:r>
              <a:rPr sz="900" b="0" spc="200">
                <a:solidFill>
                  <a:srgbClr val="918F8C"/>
                </a:solidFill>
                <a:latin typeface="JetBrains Mono"/>
              </a:rPr>
              <a:t>POR QUE JUNTOS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70000"/>
            <a:ext cx="9652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10">
                <a:solidFill>
                  <a:srgbClr val="F7F4EF"/>
                </a:solidFill>
                <a:latin typeface="Space Grotesk"/>
              </a:rPr>
              <a:t>O público certo encontra a competência certa.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2286000"/>
            <a:ext cx="5041900" cy="11430"/>
          </a:xfrm>
          <a:prstGeom prst="rect">
            <a:avLst/>
          </a:prstGeom>
          <a:solidFill>
            <a:srgbClr val="545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0000" y="2286000"/>
            <a:ext cx="5041900" cy="11430"/>
          </a:xfrm>
          <a:prstGeom prst="rect">
            <a:avLst/>
          </a:prstGeom>
          <a:solidFill>
            <a:srgbClr val="545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2463800"/>
            <a:ext cx="5041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60">
                <a:solidFill>
                  <a:srgbClr val="168E7A"/>
                </a:solidFill>
                <a:latin typeface="JetBrains Mono"/>
              </a:rPr>
              <a:t>MENTORIA VETERINÁRIO EMPRESÁRIO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768600"/>
            <a:ext cx="50419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168E7A"/>
                </a:solidFill>
                <a:latin typeface="Space Grotesk"/>
              </a:rPr>
              <a:t>–  </a:t>
            </a:r>
            <a:r>
              <a:rPr sz="1150" b="0">
                <a:solidFill>
                  <a:srgbClr val="C5C3BF"/>
                </a:solidFill>
                <a:latin typeface="Space Grotesk"/>
              </a:rPr>
              <a:t>Clínicas e hospitais com faturamento </a:t>
            </a:r>
            <a:r>
              <a:rPr sz="1150" b="1">
                <a:solidFill>
                  <a:srgbClr val="F7F4EF"/>
                </a:solidFill>
                <a:latin typeface="Space Grotesk"/>
              </a:rPr>
              <a:t>acima de 100k/mês</a:t>
            </a:r>
            <a:r>
              <a:rPr sz="1150" b="0">
                <a:solidFill>
                  <a:srgbClr val="C5C3BF"/>
                </a:solidFill>
                <a:latin typeface="Space Grotesk"/>
              </a:rPr>
              <a:t> — o perfil que comporta plano próprio.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168E7A"/>
                </a:solidFill>
                <a:latin typeface="Space Grotesk"/>
              </a:rPr>
              <a:t>–  </a:t>
            </a:r>
            <a:r>
              <a:rPr sz="1150" b="0">
                <a:solidFill>
                  <a:srgbClr val="C5C3BF"/>
                </a:solidFill>
                <a:latin typeface="Space Grotesk"/>
              </a:rPr>
              <a:t>Confiança construída com o público e esteira comercial ativa.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168E7A"/>
                </a:solidFill>
                <a:latin typeface="Space Grotesk"/>
              </a:rPr>
              <a:t>–  </a:t>
            </a:r>
            <a:r>
              <a:rPr sz="1150" b="1">
                <a:solidFill>
                  <a:srgbClr val="F7F4EF"/>
                </a:solidFill>
                <a:latin typeface="Space Grotesk"/>
              </a:rPr>
              <a:t>João</a:t>
            </a:r>
            <a:r>
              <a:rPr sz="1150" b="0">
                <a:solidFill>
                  <a:srgbClr val="C5C3BF"/>
                </a:solidFill>
                <a:latin typeface="Space Grotesk"/>
              </a:rPr>
              <a:t> — Investimento e Expansão · </a:t>
            </a:r>
            <a:r>
              <a:rPr sz="1150" b="1">
                <a:solidFill>
                  <a:srgbClr val="F7F4EF"/>
                </a:solidFill>
                <a:latin typeface="Space Grotesk"/>
              </a:rPr>
              <a:t>Allan</a:t>
            </a:r>
            <a:r>
              <a:rPr sz="1150" b="0">
                <a:solidFill>
                  <a:srgbClr val="C5C3BF"/>
                </a:solidFill>
                <a:latin typeface="Space Grotesk"/>
              </a:rPr>
              <a:t> — Operação Hospitalar e Atendimento · </a:t>
            </a:r>
            <a:r>
              <a:rPr sz="1150" b="1">
                <a:solidFill>
                  <a:srgbClr val="F7F4EF"/>
                </a:solidFill>
                <a:latin typeface="Space Grotesk"/>
              </a:rPr>
              <a:t>Hebert</a:t>
            </a:r>
            <a:r>
              <a:rPr sz="1150" b="0">
                <a:solidFill>
                  <a:srgbClr val="C5C3BF"/>
                </a:solidFill>
                <a:latin typeface="Space Grotesk"/>
              </a:rPr>
              <a:t> — Gestão Comercial e Fornecedores.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2463800"/>
            <a:ext cx="50419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60">
                <a:solidFill>
                  <a:srgbClr val="168E7A"/>
                </a:solidFill>
                <a:latin typeface="JetBrains Mono"/>
              </a:rPr>
              <a:t>THE REVER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2768600"/>
            <a:ext cx="50419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168E7A"/>
                </a:solidFill>
                <a:latin typeface="Space Grotesk"/>
              </a:rPr>
              <a:t>–  </a:t>
            </a:r>
            <a:r>
              <a:rPr sz="1150" b="0">
                <a:solidFill>
                  <a:srgbClr val="C5C3BF"/>
                </a:solidFill>
                <a:latin typeface="Space Grotesk"/>
              </a:rPr>
              <a:t>Método: </a:t>
            </a:r>
            <a:r>
              <a:rPr sz="1150" b="1">
                <a:solidFill>
                  <a:srgbClr val="F7F4EF"/>
                </a:solidFill>
                <a:latin typeface="Space Grotesk"/>
              </a:rPr>
              <a:t>Adicionar · Escalar · Reter · Rentabilizar</a:t>
            </a:r>
            <a:r>
              <a:rPr sz="1150" b="0">
                <a:solidFill>
                  <a:srgbClr val="C5C3BF"/>
                </a:solidFill>
                <a:latin typeface="Space Grotesk"/>
              </a:rPr>
              <a:t> + Matriz REVER aplicada à clínica.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168E7A"/>
                </a:solidFill>
                <a:latin typeface="Space Grotesk"/>
              </a:rPr>
              <a:t>–  </a:t>
            </a:r>
            <a:r>
              <a:rPr sz="1150" b="0">
                <a:solidFill>
                  <a:srgbClr val="C5C3BF"/>
                </a:solidFill>
                <a:latin typeface="Space Grotesk"/>
              </a:rPr>
              <a:t>20+ anos de lastro em bases instaladas reais: TIM · SKY · Nextel (4MM de clientes, R$2bi) · Wine.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168E7A"/>
                </a:solidFill>
                <a:latin typeface="Space Grotesk"/>
              </a:rPr>
              <a:t>–  </a:t>
            </a:r>
            <a:r>
              <a:rPr sz="1150" b="1">
                <a:solidFill>
                  <a:srgbClr val="F7F4EF"/>
                </a:solidFill>
                <a:latin typeface="Space Grotesk"/>
              </a:rPr>
              <a:t>Mais Pet — CRO, +500% em 12 meses.</a:t>
            </a:r>
            <a:r>
              <a:rPr sz="1150" b="0">
                <a:solidFill>
                  <a:srgbClr val="C5C3BF"/>
                </a:solidFill>
                <a:latin typeface="Space Grotesk"/>
              </a:rPr>
              <a:t> Lastro direto no setor pet.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" y="4953000"/>
            <a:ext cx="20320" cy="762000"/>
          </a:xfrm>
          <a:prstGeom prst="rect">
            <a:avLst/>
          </a:prstGeom>
          <a:solidFill>
            <a:srgbClr val="168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4100" y="4953000"/>
            <a:ext cx="845820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4EF"/>
                </a:solidFill>
                <a:latin typeface="Space Grotesk"/>
              </a:rPr>
              <a:t>O Veterinário Empresário ensina a clínica a operar bem. A The REVER Vet instala o motor de receita que blinda essa operação — e a faz valer mais a cada mês.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63246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6A6967"/>
                </a:solidFill>
                <a:latin typeface="JetBrains Mono"/>
              </a:rPr>
              <a:t>THE REVER VET · CONFIDENCIAL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0" y="6324600"/>
            <a:ext cx="17399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6A6967"/>
                </a:solidFill>
                <a:latin typeface="JetBrains Mono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08000"/>
            <a:ext cx="381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20">
                <a:solidFill>
                  <a:srgbClr val="F7F4EF"/>
                </a:solidFill>
                <a:latin typeface="Space Grotesk"/>
              </a:rPr>
              <a:t>The REVER</a:t>
            </a:r>
            <a:r>
              <a:rPr sz="1200" b="1">
                <a:solidFill>
                  <a:srgbClr val="168E7A"/>
                </a:solidFill>
                <a:latin typeface="Space Grotesk"/>
              </a:rPr>
              <a:t>●</a:t>
            </a:r>
            <a:r>
              <a:rPr sz="850" b="1" spc="180">
                <a:solidFill>
                  <a:srgbClr val="168E7A"/>
                </a:solidFill>
                <a:latin typeface="JetBrains Mono"/>
              </a:rPr>
              <a:t>  VET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0" y="520700"/>
            <a:ext cx="4279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200">
                <a:solidFill>
                  <a:srgbClr val="168E7A"/>
                </a:solidFill>
                <a:latin typeface="JetBrains Mono"/>
              </a:rPr>
              <a:t>05  ·  </a:t>
            </a:r>
            <a:r>
              <a:rPr sz="900" b="0" spc="200">
                <a:solidFill>
                  <a:srgbClr val="918F8C"/>
                </a:solidFill>
                <a:latin typeface="JetBrains Mono"/>
              </a:rPr>
              <a:t>FRENTE 1 — EDUCAÇÃO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117600"/>
            <a:ext cx="8890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10">
                <a:solidFill>
                  <a:srgbClr val="F7F4EF"/>
                </a:solidFill>
                <a:latin typeface="Space Grotesk"/>
              </a:rPr>
              <a:t>Módulo Receita Recorrente: como construir seu plano de saúde ou clube de saúde.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286000"/>
            <a:ext cx="254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160">
                <a:solidFill>
                  <a:srgbClr val="868482"/>
                </a:solidFill>
                <a:latin typeface="JetBrains Mono"/>
              </a:rPr>
              <a:t>BLOCO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9500" y="2286000"/>
            <a:ext cx="6096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160">
                <a:solidFill>
                  <a:srgbClr val="868482"/>
                </a:solidFill>
                <a:latin typeface="JetBrains Mono"/>
              </a:rPr>
              <a:t>CONTEÚDO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0" y="2286000"/>
            <a:ext cx="12319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160">
                <a:solidFill>
                  <a:srgbClr val="868482"/>
                </a:solidFill>
                <a:latin typeface="JetBrains Mono"/>
              </a:rPr>
              <a:t>MENTOR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2565400"/>
            <a:ext cx="10591800" cy="11430"/>
          </a:xfrm>
          <a:prstGeom prst="rect">
            <a:avLst/>
          </a:prstGeom>
          <a:solidFill>
            <a:srgbClr val="38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2717800"/>
            <a:ext cx="26035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4EF"/>
                </a:solidFill>
                <a:latin typeface="Space Grotesk"/>
              </a:rPr>
              <a:t>Estratégia e Planejamento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0" y="2717800"/>
            <a:ext cx="6096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9F9C"/>
                </a:solidFill>
                <a:latin typeface="Space Grotesk"/>
              </a:rPr>
              <a:t>A ameaça das operadoras e a defesa pelo plano próprio · plano de saúde vs clube de benefícios · capacidade × demanda · LTV, CAC, payback e sinistralidade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0" y="2717800"/>
            <a:ext cx="12319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spc="100">
                <a:solidFill>
                  <a:srgbClr val="168E7A"/>
                </a:solidFill>
                <a:latin typeface="JetBrains Mono"/>
              </a:rPr>
              <a:t>CARLOS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" y="3352800"/>
            <a:ext cx="10591800" cy="11430"/>
          </a:xfrm>
          <a:prstGeom prst="rect">
            <a:avLst/>
          </a:prstGeom>
          <a:solidFill>
            <a:srgbClr val="38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" y="3505200"/>
            <a:ext cx="26035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4EF"/>
                </a:solidFill>
                <a:latin typeface="Space Grotesk"/>
              </a:rPr>
              <a:t>Criação de Planos e Preços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9500" y="3505200"/>
            <a:ext cx="6096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9F9C"/>
                </a:solidFill>
                <a:latin typeface="Space Grotesk"/>
              </a:rPr>
              <a:t>Desenho de tiers e empacotamento · precificação com margem protegida · contrato e regras de uso · relação com fornecedores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0" y="3505200"/>
            <a:ext cx="12319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spc="100">
                <a:solidFill>
                  <a:srgbClr val="168E7A"/>
                </a:solidFill>
                <a:latin typeface="JetBrains Mono"/>
              </a:rPr>
              <a:t>HEBERT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" y="4140200"/>
            <a:ext cx="10591800" cy="11430"/>
          </a:xfrm>
          <a:prstGeom prst="rect">
            <a:avLst/>
          </a:prstGeom>
          <a:solidFill>
            <a:srgbClr val="38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" y="4292600"/>
            <a:ext cx="26035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4EF"/>
                </a:solidFill>
                <a:latin typeface="Space Grotesk"/>
              </a:rPr>
              <a:t>Estratégia de Crescimento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0" y="4292600"/>
            <a:ext cx="6096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19F9C"/>
                </a:solidFill>
                <a:latin typeface="Space Grotesk"/>
              </a:rPr>
              <a:t>Venda do plano na rotina da clínica (a base atual primeiro) · régua de retenção e cobrança · upsell, cross-sell e indicação · sinais de churn antes do cancelamento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0000" y="4292600"/>
            <a:ext cx="12319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spc="100">
                <a:solidFill>
                  <a:srgbClr val="168E7A"/>
                </a:solidFill>
                <a:latin typeface="JetBrains Mono"/>
              </a:rPr>
              <a:t>CARLOS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" y="5054600"/>
            <a:ext cx="20320" cy="711200"/>
          </a:xfrm>
          <a:prstGeom prst="rect">
            <a:avLst/>
          </a:prstGeom>
          <a:solidFill>
            <a:srgbClr val="168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4100" y="5054600"/>
            <a:ext cx="8458200" cy="7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7F4EF"/>
                </a:solidFill>
                <a:latin typeface="Space Grotesk"/>
              </a:rPr>
              <a:t>E Carlos entra como mentor da casa: aulas de Marketing, Gestão e IA · estruturação de método e produto · apoio à liderança do time de vendas e marketing.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63246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6A6967"/>
                </a:solidFill>
                <a:latin typeface="JetBrains Mono"/>
              </a:rPr>
              <a:t>THE REVER VET · CONFIDENCIAL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0" y="6324600"/>
            <a:ext cx="17399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6A6967"/>
                </a:solidFill>
                <a:latin typeface="JetBrains Mono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08000"/>
            <a:ext cx="381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20">
                <a:solidFill>
                  <a:srgbClr val="F7F4EF"/>
                </a:solidFill>
                <a:latin typeface="Space Grotesk"/>
              </a:rPr>
              <a:t>The REVER</a:t>
            </a:r>
            <a:r>
              <a:rPr sz="1200" b="1">
                <a:solidFill>
                  <a:srgbClr val="168E7A"/>
                </a:solidFill>
                <a:latin typeface="Space Grotesk"/>
              </a:rPr>
              <a:t>●</a:t>
            </a:r>
            <a:r>
              <a:rPr sz="850" b="1" spc="180">
                <a:solidFill>
                  <a:srgbClr val="168E7A"/>
                </a:solidFill>
                <a:latin typeface="JetBrains Mono"/>
              </a:rPr>
              <a:t>  VET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0" y="520700"/>
            <a:ext cx="4279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200">
                <a:solidFill>
                  <a:srgbClr val="168E7A"/>
                </a:solidFill>
                <a:latin typeface="JetBrains Mono"/>
              </a:rPr>
              <a:t>06  ·  </a:t>
            </a:r>
            <a:r>
              <a:rPr sz="900" b="0" spc="200">
                <a:solidFill>
                  <a:srgbClr val="918F8C"/>
                </a:solidFill>
                <a:latin typeface="JetBrains Mono"/>
              </a:rPr>
              <a:t>FRENTE 2 —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168400"/>
            <a:ext cx="5588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10">
                <a:solidFill>
                  <a:srgbClr val="F7F4EF"/>
                </a:solidFill>
                <a:latin typeface="Space Grotesk"/>
              </a:rPr>
              <a:t>Gestão de Assinantes: o software que faz o plano rodar.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413000"/>
            <a:ext cx="5334000" cy="241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168E7A"/>
                </a:solidFill>
                <a:latin typeface="Space Grotesk"/>
              </a:rPr>
              <a:t>–  </a:t>
            </a:r>
            <a:r>
              <a:rPr sz="1150" b="1">
                <a:solidFill>
                  <a:srgbClr val="F7F4EF"/>
                </a:solidFill>
                <a:latin typeface="Space Grotesk"/>
              </a:rPr>
              <a:t>Venda de planos</a:t>
            </a:r>
            <a:r>
              <a:rPr sz="1150" b="0">
                <a:solidFill>
                  <a:srgbClr val="C5C3BF"/>
                </a:solidFill>
                <a:latin typeface="Space Grotesk"/>
              </a:rPr>
              <a:t> — esteira de contratação dos planos da clínica.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168E7A"/>
                </a:solidFill>
                <a:latin typeface="Space Grotesk"/>
              </a:rPr>
              <a:t>–  </a:t>
            </a:r>
            <a:r>
              <a:rPr sz="1150" b="1">
                <a:solidFill>
                  <a:srgbClr val="F7F4EF"/>
                </a:solidFill>
                <a:latin typeface="Space Grotesk"/>
              </a:rPr>
              <a:t>Manutenção de planos</a:t>
            </a:r>
            <a:r>
              <a:rPr sz="1150" b="0">
                <a:solidFill>
                  <a:srgbClr val="C5C3BF"/>
                </a:solidFill>
                <a:latin typeface="Space Grotesk"/>
              </a:rPr>
              <a:t> — upgrades, downgrades, carências e regras de uso.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168E7A"/>
                </a:solidFill>
                <a:latin typeface="Space Grotesk"/>
              </a:rPr>
              <a:t>–  </a:t>
            </a:r>
            <a:r>
              <a:rPr sz="1150" b="1">
                <a:solidFill>
                  <a:srgbClr val="F7F4EF"/>
                </a:solidFill>
                <a:latin typeface="Space Grotesk"/>
              </a:rPr>
              <a:t>Cobrança mensal</a:t>
            </a:r>
            <a:r>
              <a:rPr sz="1150" b="0">
                <a:solidFill>
                  <a:srgbClr val="C5C3BF"/>
                </a:solidFill>
                <a:latin typeface="Space Grotesk"/>
              </a:rPr>
              <a:t> — recorrência automática e recuperação de inadimplência.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168E7A"/>
                </a:solidFill>
                <a:latin typeface="Space Grotesk"/>
              </a:rPr>
              <a:t>–  </a:t>
            </a:r>
            <a:r>
              <a:rPr sz="1150" b="1">
                <a:solidFill>
                  <a:srgbClr val="F7F4EF"/>
                </a:solidFill>
                <a:latin typeface="Space Grotesk"/>
              </a:rPr>
              <a:t>Agentes de IA embarcados</a:t>
            </a:r>
            <a:r>
              <a:rPr sz="1150" b="0">
                <a:solidFill>
                  <a:srgbClr val="C5C3BF"/>
                </a:solidFill>
                <a:latin typeface="Space Grotesk"/>
              </a:rPr>
              <a:t> — Vendas · Pós-vendas/SAC · Cobrança/Financeiro. A IA como engrenagem, fazendo o pesado.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" y="4927600"/>
            <a:ext cx="20320" cy="1016000"/>
          </a:xfrm>
          <a:prstGeom prst="rect">
            <a:avLst/>
          </a:prstGeom>
          <a:solidFill>
            <a:srgbClr val="168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4100" y="4927600"/>
            <a:ext cx="5080000" cy="10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7F4EF"/>
                </a:solidFill>
                <a:latin typeface="Space Grotesk"/>
              </a:rPr>
              <a:t>300 assinantes × ~R$120/mês ≈ </a:t>
            </a:r>
            <a:r>
              <a:rPr sz="1200" b="1">
                <a:solidFill>
                  <a:srgbClr val="168E7A"/>
                </a:solidFill>
                <a:latin typeface="JetBrains Mono"/>
              </a:rPr>
              <a:t>R$36k/mês</a:t>
            </a:r>
            <a:r>
              <a:rPr sz="1250" b="1">
                <a:solidFill>
                  <a:srgbClr val="F7F4EF"/>
                </a:solidFill>
                <a:latin typeface="Space Grotesk"/>
              </a:rPr>
              <a:t> de recorrência própria. A mensalidade custa ~5% do que o software sustenta — e só sobe quando a clínica ganha mais.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349500"/>
            <a:ext cx="254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160">
                <a:solidFill>
                  <a:srgbClr val="868482"/>
                </a:solidFill>
                <a:latin typeface="JetBrains Mono"/>
              </a:rPr>
              <a:t>MONETIZAÇÃO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2349500"/>
            <a:ext cx="19939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160">
                <a:solidFill>
                  <a:srgbClr val="868482"/>
                </a:solidFill>
                <a:latin typeface="JetBrains Mono"/>
              </a:rPr>
              <a:t>VALOR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628900"/>
            <a:ext cx="4533900" cy="11430"/>
          </a:xfrm>
          <a:prstGeom prst="rect">
            <a:avLst/>
          </a:prstGeom>
          <a:solidFill>
            <a:srgbClr val="38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743200"/>
            <a:ext cx="292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8E7A"/>
                </a:solidFill>
                <a:latin typeface="Space Grotesk"/>
              </a:rPr>
              <a:t>Setup — implantação e configuração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8000" y="2743200"/>
            <a:ext cx="19939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8E7A"/>
                </a:solidFill>
                <a:latin typeface="JetBrains Mono"/>
              </a:rPr>
              <a:t>R$ 15.000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3060700"/>
            <a:ext cx="4533900" cy="11430"/>
          </a:xfrm>
          <a:prstGeom prst="rect">
            <a:avLst/>
          </a:prstGeom>
          <a:solidFill>
            <a:srgbClr val="38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175000"/>
            <a:ext cx="292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7F4EF"/>
                </a:solidFill>
                <a:latin typeface="Space Grotesk"/>
              </a:rPr>
              <a:t>Até 100 clientes no plano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0" y="3175000"/>
            <a:ext cx="19939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7F4EF"/>
                </a:solidFill>
                <a:latin typeface="JetBrains Mono"/>
              </a:rPr>
              <a:t>R$ 1.000/mês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3492500"/>
            <a:ext cx="4533900" cy="11430"/>
          </a:xfrm>
          <a:prstGeom prst="rect">
            <a:avLst/>
          </a:prstGeom>
          <a:solidFill>
            <a:srgbClr val="38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606800"/>
            <a:ext cx="292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7F4EF"/>
                </a:solidFill>
                <a:latin typeface="Space Grotesk"/>
              </a:rPr>
              <a:t>Até 300 clientes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8000" y="3606800"/>
            <a:ext cx="19939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7F4EF"/>
                </a:solidFill>
                <a:latin typeface="JetBrains Mono"/>
              </a:rPr>
              <a:t>R$ 2.000/mês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3924300"/>
            <a:ext cx="4533900" cy="11430"/>
          </a:xfrm>
          <a:prstGeom prst="rect">
            <a:avLst/>
          </a:prstGeom>
          <a:solidFill>
            <a:srgbClr val="38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4038600"/>
            <a:ext cx="292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7F4EF"/>
                </a:solidFill>
                <a:latin typeface="Space Grotesk"/>
              </a:rPr>
              <a:t>Até 600 clientes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8000" y="4038600"/>
            <a:ext cx="19939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7F4EF"/>
                </a:solidFill>
                <a:latin typeface="JetBrains Mono"/>
              </a:rPr>
              <a:t>R$ 3.000/mês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4356100"/>
            <a:ext cx="4533900" cy="11430"/>
          </a:xfrm>
          <a:prstGeom prst="rect">
            <a:avLst/>
          </a:prstGeom>
          <a:solidFill>
            <a:srgbClr val="38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4470400"/>
            <a:ext cx="292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7F4EF"/>
                </a:solidFill>
                <a:latin typeface="Space Grotesk"/>
              </a:rPr>
              <a:t>Até 1.000 clientes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8000" y="4470400"/>
            <a:ext cx="19939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7F4EF"/>
                </a:solidFill>
                <a:latin typeface="JetBrains Mono"/>
              </a:rPr>
              <a:t>R$ 5.000/mês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4787900"/>
            <a:ext cx="4533900" cy="11430"/>
          </a:xfrm>
          <a:prstGeom prst="rect">
            <a:avLst/>
          </a:prstGeom>
          <a:solidFill>
            <a:srgbClr val="38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902200"/>
            <a:ext cx="292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7F4EF"/>
                </a:solidFill>
                <a:latin typeface="Space Grotesk"/>
              </a:rPr>
              <a:t>Acima de 1.000 clientes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8000" y="4902200"/>
            <a:ext cx="19939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7F4EF"/>
                </a:solidFill>
                <a:latin typeface="JetBrains Mono"/>
              </a:rPr>
              <a:t>R$ 6.000/mês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" y="63246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6A6967"/>
                </a:solidFill>
                <a:latin typeface="JetBrains Mono"/>
              </a:rPr>
              <a:t>THE REVER VET · CONFIDENCIAL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2000" y="6324600"/>
            <a:ext cx="17399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6A6967"/>
                </a:solidFill>
                <a:latin typeface="JetBrains Mono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08000"/>
            <a:ext cx="381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20">
                <a:solidFill>
                  <a:srgbClr val="F7F4EF"/>
                </a:solidFill>
                <a:latin typeface="Space Grotesk"/>
              </a:rPr>
              <a:t>The REVER</a:t>
            </a:r>
            <a:r>
              <a:rPr sz="1200" b="1">
                <a:solidFill>
                  <a:srgbClr val="168E7A"/>
                </a:solidFill>
                <a:latin typeface="Space Grotesk"/>
              </a:rPr>
              <a:t>●</a:t>
            </a:r>
            <a:r>
              <a:rPr sz="850" b="1" spc="180">
                <a:solidFill>
                  <a:srgbClr val="168E7A"/>
                </a:solidFill>
                <a:latin typeface="JetBrains Mono"/>
              </a:rPr>
              <a:t>  VET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0" y="520700"/>
            <a:ext cx="4279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200">
                <a:solidFill>
                  <a:srgbClr val="168E7A"/>
                </a:solidFill>
                <a:latin typeface="JetBrains Mono"/>
              </a:rPr>
              <a:t>07  ·  </a:t>
            </a:r>
            <a:r>
              <a:rPr sz="900" b="0" spc="200">
                <a:solidFill>
                  <a:srgbClr val="918F8C"/>
                </a:solidFill>
                <a:latin typeface="JetBrains Mono"/>
              </a:rPr>
              <a:t>O CICLO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168400"/>
            <a:ext cx="10591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10">
                <a:solidFill>
                  <a:srgbClr val="F7F4EF"/>
                </a:solidFill>
                <a:latin typeface="Space Grotesk"/>
              </a:rPr>
              <a:t>Educação gera pipeline. Software gera prova.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1000" y="2006600"/>
            <a:ext cx="6350000" cy="508000"/>
          </a:xfrm>
          <a:prstGeom prst="rect">
            <a:avLst/>
          </a:prstGeom>
          <a:solidFill>
            <a:srgbClr val="1D1D1C"/>
          </a:solidFill>
          <a:ln w="9525">
            <a:solidFill>
              <a:srgbClr val="5453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75000" y="2006600"/>
            <a:ext cx="58420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spc="160">
                <a:solidFill>
                  <a:srgbClr val="168E7A"/>
                </a:solidFill>
                <a:latin typeface="JetBrains Mono"/>
              </a:rPr>
              <a:t>MENTORIA</a:t>
            </a:r>
            <a:r>
              <a:rPr sz="1100" b="0">
                <a:solidFill>
                  <a:srgbClr val="C5C3BF"/>
                </a:solidFill>
                <a:latin typeface="Space Grotesk"/>
              </a:rPr>
              <a:t>   Público qualificado: clínicas e hospitais +100k/mês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0" y="2514600"/>
            <a:ext cx="12700" cy="177800"/>
          </a:xfrm>
          <a:prstGeom prst="rect">
            <a:avLst/>
          </a:prstGeom>
          <a:solidFill>
            <a:srgbClr val="545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1000" y="2692400"/>
            <a:ext cx="6350000" cy="508000"/>
          </a:xfrm>
          <a:prstGeom prst="rect">
            <a:avLst/>
          </a:prstGeom>
          <a:solidFill>
            <a:srgbClr val="1D1D1C"/>
          </a:solidFill>
          <a:ln w="9525">
            <a:solidFill>
              <a:srgbClr val="5453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75000" y="2692400"/>
            <a:ext cx="58420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spc="160">
                <a:solidFill>
                  <a:srgbClr val="168E7A"/>
                </a:solidFill>
                <a:latin typeface="JetBrains Mono"/>
              </a:rPr>
              <a:t>MÓDULO</a:t>
            </a:r>
            <a:r>
              <a:rPr sz="1100" b="0">
                <a:solidFill>
                  <a:srgbClr val="C5C3BF"/>
                </a:solidFill>
                <a:latin typeface="Space Grotesk"/>
              </a:rPr>
              <a:t>   O mentorado desenha o seu plano próprio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0" y="3200400"/>
            <a:ext cx="12700" cy="177800"/>
          </a:xfrm>
          <a:prstGeom prst="rect">
            <a:avLst/>
          </a:prstGeom>
          <a:solidFill>
            <a:srgbClr val="545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1000" y="3378200"/>
            <a:ext cx="6350000" cy="508000"/>
          </a:xfrm>
          <a:prstGeom prst="rect">
            <a:avLst/>
          </a:prstGeom>
          <a:solidFill>
            <a:srgbClr val="1D1D1C"/>
          </a:solidFill>
          <a:ln w="9525">
            <a:solidFill>
              <a:srgbClr val="5453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5000" y="3378200"/>
            <a:ext cx="58420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spc="160">
                <a:solidFill>
                  <a:srgbClr val="168E7A"/>
                </a:solidFill>
                <a:latin typeface="JetBrains Mono"/>
              </a:rPr>
              <a:t>SAAS</a:t>
            </a:r>
            <a:r>
              <a:rPr sz="1100" b="0">
                <a:solidFill>
                  <a:srgbClr val="C5C3BF"/>
                </a:solidFill>
                <a:latin typeface="Space Grotesk"/>
              </a:rPr>
              <a:t>   O plano sai do papel e roda — venda, cobrança, retenção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0" y="3886200"/>
            <a:ext cx="12700" cy="177800"/>
          </a:xfrm>
          <a:prstGeom prst="rect">
            <a:avLst/>
          </a:prstGeom>
          <a:solidFill>
            <a:srgbClr val="545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1000" y="4064000"/>
            <a:ext cx="6350000" cy="508000"/>
          </a:xfrm>
          <a:prstGeom prst="rect">
            <a:avLst/>
          </a:prstGeom>
          <a:solidFill>
            <a:srgbClr val="1D1D1C"/>
          </a:solidFill>
          <a:ln w="9525">
            <a:solidFill>
              <a:srgbClr val="5453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75000" y="4064000"/>
            <a:ext cx="58420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spc="160">
                <a:solidFill>
                  <a:srgbClr val="168E7A"/>
                </a:solidFill>
                <a:latin typeface="JetBrains Mono"/>
              </a:rPr>
              <a:t>BASE BLINDADA</a:t>
            </a:r>
            <a:r>
              <a:rPr sz="1100" b="0">
                <a:solidFill>
                  <a:srgbClr val="C5C3BF"/>
                </a:solidFill>
                <a:latin typeface="Space Grotesk"/>
              </a:rPr>
              <a:t>   O tutor assina com a clínica, não com a operadora; o MRR sobe por faixa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4572000"/>
            <a:ext cx="12700" cy="177800"/>
          </a:xfrm>
          <a:prstGeom prst="rect">
            <a:avLst/>
          </a:prstGeom>
          <a:solidFill>
            <a:srgbClr val="545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1000" y="4749800"/>
            <a:ext cx="6350000" cy="508000"/>
          </a:xfrm>
          <a:prstGeom prst="rect">
            <a:avLst/>
          </a:prstGeom>
          <a:solidFill>
            <a:srgbClr val="1D1D1C"/>
          </a:solidFill>
          <a:ln w="9525">
            <a:solidFill>
              <a:srgbClr val="5453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5000" y="4749800"/>
            <a:ext cx="58420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spc="160">
                <a:solidFill>
                  <a:srgbClr val="168E7A"/>
                </a:solidFill>
                <a:latin typeface="JetBrains Mono"/>
              </a:rPr>
              <a:t>CASE</a:t>
            </a:r>
            <a:r>
              <a:rPr sz="1100" b="0">
                <a:solidFill>
                  <a:srgbClr val="C5C3BF"/>
                </a:solidFill>
                <a:latin typeface="Space Grotesk"/>
              </a:rPr>
              <a:t>   O resultado vende mais mentoria — e o ciclo recomeça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28200" y="2260600"/>
            <a:ext cx="812800" cy="12700"/>
          </a:xfrm>
          <a:prstGeom prst="rect">
            <a:avLst/>
          </a:prstGeom>
          <a:solidFill>
            <a:srgbClr val="168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41000" y="2260600"/>
            <a:ext cx="12700" cy="2743200"/>
          </a:xfrm>
          <a:prstGeom prst="rect">
            <a:avLst/>
          </a:prstGeom>
          <a:solidFill>
            <a:srgbClr val="168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28200" y="5003800"/>
            <a:ext cx="812800" cy="12700"/>
          </a:xfrm>
          <a:prstGeom prst="rect">
            <a:avLst/>
          </a:prstGeom>
          <a:solidFill>
            <a:srgbClr val="168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 rot="5400000">
            <a:off x="10693400" y="2616200"/>
            <a:ext cx="2032000" cy="20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spc="260">
                <a:solidFill>
                  <a:srgbClr val="168E7A"/>
                </a:solidFill>
                <a:latin typeface="JetBrains Mono"/>
              </a:rPr>
              <a:t>O CICLO SE RETROALIMENTA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63246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6A6967"/>
                </a:solidFill>
                <a:latin typeface="JetBrains Mono"/>
              </a:rPr>
              <a:t>THE REVER VET · CONFIDENCIAL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2000" y="6324600"/>
            <a:ext cx="17399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6A6967"/>
                </a:solidFill>
                <a:latin typeface="JetBrains Mono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08000"/>
            <a:ext cx="381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20">
                <a:solidFill>
                  <a:srgbClr val="F7F4EF"/>
                </a:solidFill>
                <a:latin typeface="Space Grotesk"/>
              </a:rPr>
              <a:t>The REVER</a:t>
            </a:r>
            <a:r>
              <a:rPr sz="1200" b="1">
                <a:solidFill>
                  <a:srgbClr val="168E7A"/>
                </a:solidFill>
                <a:latin typeface="Space Grotesk"/>
              </a:rPr>
              <a:t>●</a:t>
            </a:r>
            <a:r>
              <a:rPr sz="850" b="1" spc="180">
                <a:solidFill>
                  <a:srgbClr val="168E7A"/>
                </a:solidFill>
                <a:latin typeface="JetBrains Mono"/>
              </a:rPr>
              <a:t>  VET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0" y="520700"/>
            <a:ext cx="4279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200">
                <a:solidFill>
                  <a:srgbClr val="168E7A"/>
                </a:solidFill>
                <a:latin typeface="JetBrains Mono"/>
              </a:rPr>
              <a:t>08  ·  </a:t>
            </a:r>
            <a:r>
              <a:rPr sz="900" b="0" spc="200">
                <a:solidFill>
                  <a:srgbClr val="918F8C"/>
                </a:solidFill>
                <a:latin typeface="JetBrains Mono"/>
              </a:rPr>
              <a:t>POTENCIAL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70000"/>
            <a:ext cx="9652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10">
                <a:solidFill>
                  <a:srgbClr val="F7F4EF"/>
                </a:solidFill>
                <a:latin typeface="Space Grotesk"/>
              </a:rPr>
              <a:t>Cenário conservador — para calibrar juntos.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311400"/>
            <a:ext cx="1778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140">
                <a:solidFill>
                  <a:srgbClr val="868482"/>
                </a:solidFill>
                <a:latin typeface="JetBrains Mono"/>
              </a:rPr>
              <a:t>HORIZONTE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0" y="2311400"/>
            <a:ext cx="1778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140">
                <a:solidFill>
                  <a:srgbClr val="868482"/>
                </a:solidFill>
                <a:latin typeface="JetBrains Mono"/>
              </a:rPr>
              <a:t>CLÍNICAS NO 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0" y="2311400"/>
            <a:ext cx="1778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140">
                <a:solidFill>
                  <a:srgbClr val="868482"/>
                </a:solidFill>
                <a:latin typeface="JetBrains Mono"/>
              </a:rPr>
              <a:t>SETUP ACUMULADO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0" y="2311400"/>
            <a:ext cx="1778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140">
                <a:solidFill>
                  <a:srgbClr val="868482"/>
                </a:solidFill>
                <a:latin typeface="JetBrains Mono"/>
              </a:rPr>
              <a:t>MRR (MÉDIA R$2K)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0" y="2311400"/>
            <a:ext cx="14859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140">
                <a:solidFill>
                  <a:srgbClr val="868482"/>
                </a:solidFill>
                <a:latin typeface="JetBrains Mono"/>
              </a:rPr>
              <a:t>ARR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" y="2616200"/>
            <a:ext cx="10591800" cy="11430"/>
          </a:xfrm>
          <a:prstGeom prst="rect">
            <a:avLst/>
          </a:prstGeom>
          <a:solidFill>
            <a:srgbClr val="38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2755900"/>
            <a:ext cx="177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7F4EF"/>
                </a:solidFill>
                <a:latin typeface="Space Grotesk"/>
              </a:rPr>
              <a:t>Ano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8000" y="2755900"/>
            <a:ext cx="177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7F4EF"/>
                </a:solidFill>
                <a:latin typeface="JetBrains Mono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0" y="2755900"/>
            <a:ext cx="177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7F4EF"/>
                </a:solidFill>
                <a:latin typeface="JetBrains Mono"/>
              </a:rPr>
              <a:t>R$ 300k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0" y="2755900"/>
            <a:ext cx="177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7F4EF"/>
                </a:solidFill>
                <a:latin typeface="JetBrains Mono"/>
              </a:rPr>
              <a:t>R$ 40k/mês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0" y="2755900"/>
            <a:ext cx="1485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7F4EF"/>
                </a:solidFill>
                <a:latin typeface="JetBrains Mono"/>
              </a:rPr>
              <a:t>~R$ 480k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" y="3124200"/>
            <a:ext cx="10591800" cy="11430"/>
          </a:xfrm>
          <a:prstGeom prst="rect">
            <a:avLst/>
          </a:prstGeom>
          <a:solidFill>
            <a:srgbClr val="38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" y="3263900"/>
            <a:ext cx="177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7F4EF"/>
                </a:solidFill>
                <a:latin typeface="Space Grotesk"/>
              </a:rPr>
              <a:t>Ano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0" y="3263900"/>
            <a:ext cx="177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7F4EF"/>
                </a:solidFill>
                <a:latin typeface="JetBrains Mono"/>
              </a:rPr>
              <a:t>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0" y="3263900"/>
            <a:ext cx="177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7F4EF"/>
                </a:solidFill>
                <a:latin typeface="JetBrains Mono"/>
              </a:rPr>
              <a:t>R$ 750k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0" y="3263900"/>
            <a:ext cx="177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7F4EF"/>
                </a:solidFill>
                <a:latin typeface="JetBrains Mono"/>
              </a:rPr>
              <a:t>R$ 100k/mês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3263900"/>
            <a:ext cx="1485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7F4EF"/>
                </a:solidFill>
                <a:latin typeface="JetBrains Mono"/>
              </a:rPr>
              <a:t>~R$ 1,2M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" y="3632200"/>
            <a:ext cx="10591800" cy="11430"/>
          </a:xfrm>
          <a:prstGeom prst="rect">
            <a:avLst/>
          </a:prstGeom>
          <a:solidFill>
            <a:srgbClr val="38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" y="3771900"/>
            <a:ext cx="177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8E7A"/>
                </a:solidFill>
                <a:latin typeface="Space Grotesk"/>
              </a:rPr>
              <a:t>Ano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8000" y="3771900"/>
            <a:ext cx="177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8E7A"/>
                </a:solidFill>
                <a:latin typeface="JetBrains Mono"/>
              </a:rP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3771900"/>
            <a:ext cx="177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8E7A"/>
                </a:solidFill>
                <a:latin typeface="JetBrains Mono"/>
              </a:rPr>
              <a:t>R$ 1,5M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0" y="3771900"/>
            <a:ext cx="177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8E7A"/>
                </a:solidFill>
                <a:latin typeface="JetBrains Mono"/>
              </a:rPr>
              <a:t>R$ 200k/mês+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6000" y="3771900"/>
            <a:ext cx="1485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8E7A"/>
                </a:solidFill>
                <a:latin typeface="JetBrains Mono"/>
              </a:rPr>
              <a:t>~R$ 2,4M+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" y="4445000"/>
            <a:ext cx="20320" cy="990600"/>
          </a:xfrm>
          <a:prstGeom prst="rect">
            <a:avLst/>
          </a:prstGeom>
          <a:solidFill>
            <a:srgbClr val="168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4100" y="4445000"/>
            <a:ext cx="8712200" cy="990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7F4EF"/>
                </a:solidFill>
                <a:latin typeface="Space Grotesk"/>
              </a:rPr>
              <a:t>O ponto não é a projeção — é a natureza da receita: contratada, crescente por faixa e com churn estruturalmente baixo. Receita de software recorrente vale múltiplos que educação não alcança: a vertical SaaS é também uma tese de valuation para os sócios.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" y="63246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6A6967"/>
                </a:solidFill>
                <a:latin typeface="JetBrains Mono"/>
              </a:rPr>
              <a:t>THE REVER VET · CONFIDENCIAL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2000" y="6324600"/>
            <a:ext cx="17399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6A6967"/>
                </a:solidFill>
                <a:latin typeface="JetBrains Mono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08000"/>
            <a:ext cx="381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20">
                <a:solidFill>
                  <a:srgbClr val="141414"/>
                </a:solidFill>
                <a:latin typeface="Space Grotesk"/>
              </a:rPr>
              <a:t>The REVER</a:t>
            </a:r>
            <a:r>
              <a:rPr sz="1200" b="1">
                <a:solidFill>
                  <a:srgbClr val="168E7A"/>
                </a:solidFill>
                <a:latin typeface="Space Grotesk"/>
              </a:rPr>
              <a:t>●</a:t>
            </a:r>
            <a:r>
              <a:rPr sz="850" b="1" spc="180">
                <a:solidFill>
                  <a:srgbClr val="168E7A"/>
                </a:solidFill>
                <a:latin typeface="JetBrains Mono"/>
              </a:rPr>
              <a:t>  VET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0" y="520700"/>
            <a:ext cx="4279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200">
                <a:solidFill>
                  <a:srgbClr val="168E7A"/>
                </a:solidFill>
                <a:latin typeface="JetBrains Mono"/>
              </a:rPr>
              <a:t>09  ·  </a:t>
            </a:r>
            <a:r>
              <a:rPr sz="900" b="0" spc="200">
                <a:solidFill>
                  <a:srgbClr val="7A7A7A"/>
                </a:solidFill>
                <a:latin typeface="JetBrains Mono"/>
              </a:rPr>
              <a:t>O ACORDO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70000"/>
            <a:ext cx="9652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10">
                <a:solidFill>
                  <a:srgbClr val="141414"/>
                </a:solidFill>
                <a:latin typeface="Space Grotesk"/>
              </a:rPr>
              <a:t>Dois motores, dois splits.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2184400"/>
            <a:ext cx="5080000" cy="3403600"/>
          </a:xfrm>
          <a:prstGeom prst="rect">
            <a:avLst/>
          </a:prstGeom>
          <a:solidFill>
            <a:srgbClr val="FCFAF6"/>
          </a:solidFill>
          <a:ln w="9525">
            <a:solidFill>
              <a:srgbClr val="BEB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0300" y="2489200"/>
            <a:ext cx="44196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60">
                <a:solidFill>
                  <a:srgbClr val="168E7A"/>
                </a:solidFill>
                <a:latin typeface="JetBrains Mono"/>
              </a:rPr>
              <a:t>EDUCAÇÃO — PARTICIPAÇÃO THE REVER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300" y="2743200"/>
            <a:ext cx="44196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68E7A"/>
                </a:solidFill>
                <a:latin typeface="JetBrains Mono"/>
              </a:rPr>
              <a:t>20%</a:t>
            </a:r>
            <a:r>
              <a:rPr sz="900" b="0" spc="140">
                <a:solidFill>
                  <a:srgbClr val="7A7A7A"/>
                </a:solidFill>
                <a:latin typeface="JetBrains Mono"/>
              </a:rPr>
              <a:t>  VET EMPRESÁRIO 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0300" y="3581400"/>
            <a:ext cx="44196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68E7A"/>
                </a:solidFill>
                <a:latin typeface="Space Grotesk"/>
              </a:rPr>
              <a:t>–  </a:t>
            </a:r>
            <a:r>
              <a:rPr sz="1050" b="0">
                <a:solidFill>
                  <a:srgbClr val="545454"/>
                </a:solidFill>
                <a:latin typeface="Space Grotesk"/>
              </a:rPr>
              <a:t>Módulo Receita Recorrente incluído na mentoria.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68E7A"/>
                </a:solidFill>
                <a:latin typeface="Space Grotesk"/>
              </a:rPr>
              <a:t>–  </a:t>
            </a:r>
            <a:r>
              <a:rPr sz="1050" b="0">
                <a:solidFill>
                  <a:srgbClr val="545454"/>
                </a:solidFill>
                <a:latin typeface="Space Grotesk"/>
              </a:rPr>
              <a:t>Carlos integra o time de mentores: módulo + aulas de Marketing, Gestão e IA.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68E7A"/>
                </a:solidFill>
                <a:latin typeface="Space Grotesk"/>
              </a:rPr>
              <a:t>–  </a:t>
            </a:r>
            <a:r>
              <a:rPr sz="1050" b="0">
                <a:solidFill>
                  <a:srgbClr val="545454"/>
                </a:solidFill>
                <a:latin typeface="Space Grotesk"/>
              </a:rPr>
              <a:t>Apoio à estruturação de método e produto e à liderança de vendas e marketing.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68E7A"/>
                </a:solidFill>
                <a:latin typeface="Space Grotesk"/>
              </a:rPr>
              <a:t>–  </a:t>
            </a:r>
            <a:r>
              <a:rPr sz="1050" b="0">
                <a:solidFill>
                  <a:srgbClr val="545454"/>
                </a:solidFill>
                <a:latin typeface="Space Grotesk"/>
              </a:rPr>
              <a:t>O ativo dominante é do Vet Empresário — público, marca, esteira. 20% remunera competência sem diluir a casa.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11900" y="2184400"/>
            <a:ext cx="5080000" cy="3403600"/>
          </a:xfrm>
          <a:prstGeom prst="rect">
            <a:avLst/>
          </a:prstGeom>
          <a:solidFill>
            <a:srgbClr val="FCFAF6"/>
          </a:solidFill>
          <a:ln w="9525">
            <a:solidFill>
              <a:srgbClr val="BEB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2100" y="2489200"/>
            <a:ext cx="44196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spc="160">
                <a:solidFill>
                  <a:srgbClr val="168E7A"/>
                </a:solidFill>
                <a:latin typeface="JetBrains Mono"/>
              </a:rPr>
              <a:t>SAAS — PARTICIPAÇÃO THE REVER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2100" y="2743200"/>
            <a:ext cx="44196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68E7A"/>
                </a:solidFill>
                <a:latin typeface="JetBrains Mono"/>
              </a:rPr>
              <a:t>70%</a:t>
            </a:r>
            <a:r>
              <a:rPr sz="900" b="0" spc="140">
                <a:solidFill>
                  <a:srgbClr val="7A7A7A"/>
                </a:solidFill>
                <a:latin typeface="JetBrains Mono"/>
              </a:rPr>
              <a:t>  VET EMPRESÁRIO 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2100" y="3581400"/>
            <a:ext cx="44196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68E7A"/>
                </a:solidFill>
                <a:latin typeface="Space Grotesk"/>
              </a:rPr>
              <a:t>–  </a:t>
            </a:r>
            <a:r>
              <a:rPr sz="1050" b="0">
                <a:solidFill>
                  <a:srgbClr val="545454"/>
                </a:solidFill>
                <a:latin typeface="Space Grotesk"/>
              </a:rPr>
              <a:t>Produto desenvolvido, mantido e operado pela The REVER.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68E7A"/>
                </a:solidFill>
                <a:latin typeface="Space Grotesk"/>
              </a:rPr>
              <a:t>–  </a:t>
            </a:r>
            <a:r>
              <a:rPr sz="1050" b="0">
                <a:solidFill>
                  <a:srgbClr val="545454"/>
                </a:solidFill>
                <a:latin typeface="Space Grotesk"/>
              </a:rPr>
              <a:t>Risco e investimento — desenvolvimento, agentes de IA, roadmap — por conta da The REVER.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68E7A"/>
                </a:solidFill>
                <a:latin typeface="Space Grotesk"/>
              </a:rPr>
              <a:t>–  </a:t>
            </a:r>
            <a:r>
              <a:rPr sz="1050" b="0">
                <a:solidFill>
                  <a:srgbClr val="545454"/>
                </a:solidFill>
                <a:latin typeface="Space Grotesk"/>
              </a:rPr>
              <a:t>Os 30% remuneram o que só o Vet Empresário tem: distribuição qualificada e confiança do público.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68E7A"/>
                </a:solidFill>
                <a:latin typeface="Space Grotesk"/>
              </a:rPr>
              <a:t>–  </a:t>
            </a:r>
            <a:r>
              <a:rPr sz="1050" b="0">
                <a:solidFill>
                  <a:srgbClr val="545454"/>
                </a:solidFill>
                <a:latin typeface="Space Grotesk"/>
              </a:rPr>
              <a:t>Receita de software sem escrever uma linha de código.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63246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919191"/>
                </a:solidFill>
                <a:latin typeface="JetBrains Mono"/>
              </a:rPr>
              <a:t>THE REVER VET · CONFIDENCIAL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0" y="6324600"/>
            <a:ext cx="17399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919191"/>
                </a:solidFill>
                <a:latin typeface="JetBrains Mono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508000"/>
            <a:ext cx="381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20">
                <a:solidFill>
                  <a:srgbClr val="F7F4EF"/>
                </a:solidFill>
                <a:latin typeface="Space Grotesk"/>
              </a:rPr>
              <a:t>The REVER</a:t>
            </a:r>
            <a:r>
              <a:rPr sz="1200" b="1">
                <a:solidFill>
                  <a:srgbClr val="168E7A"/>
                </a:solidFill>
                <a:latin typeface="Space Grotesk"/>
              </a:rPr>
              <a:t>●</a:t>
            </a:r>
            <a:r>
              <a:rPr sz="850" b="1" spc="180">
                <a:solidFill>
                  <a:srgbClr val="168E7A"/>
                </a:solidFill>
                <a:latin typeface="JetBrains Mono"/>
              </a:rPr>
              <a:t>  VET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0" y="520700"/>
            <a:ext cx="4279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spc="200">
                <a:solidFill>
                  <a:srgbClr val="168E7A"/>
                </a:solidFill>
                <a:latin typeface="JetBrains Mono"/>
              </a:rPr>
              <a:t>10  ·  </a:t>
            </a:r>
            <a:r>
              <a:rPr sz="900" b="0" spc="200">
                <a:solidFill>
                  <a:srgbClr val="918F8C"/>
                </a:solidFill>
                <a:latin typeface="JetBrains Mono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70000"/>
            <a:ext cx="9652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10">
                <a:solidFill>
                  <a:srgbClr val="F7F4EF"/>
                </a:solidFill>
                <a:latin typeface="Space Grotesk"/>
              </a:rPr>
              <a:t>90 dias para o motor ligar.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100" y="2413000"/>
            <a:ext cx="3302000" cy="11430"/>
          </a:xfrm>
          <a:prstGeom prst="rect">
            <a:avLst/>
          </a:prstGeom>
          <a:solidFill>
            <a:srgbClr val="545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2590800"/>
            <a:ext cx="330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spc="160">
                <a:solidFill>
                  <a:srgbClr val="168E7A"/>
                </a:solidFill>
                <a:latin typeface="JetBrains Mono"/>
              </a:rPr>
              <a:t>DIAS 1–30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7F4EF"/>
                </a:solidFill>
                <a:latin typeface="Space Grotesk"/>
              </a:rPr>
              <a:t>Acordo e desenho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5C3BF"/>
                </a:solidFill>
                <a:latin typeface="Space Grotesk"/>
              </a:rPr>
              <a:t>Formalização societária e contratual das duas frentes · desenho detalhado do módulo · escopo do MVP do SaaS.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45000" y="2413000"/>
            <a:ext cx="3302000" cy="11430"/>
          </a:xfrm>
          <a:prstGeom prst="rect">
            <a:avLst/>
          </a:prstGeom>
          <a:solidFill>
            <a:srgbClr val="545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5000" y="2590800"/>
            <a:ext cx="330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spc="160">
                <a:solidFill>
                  <a:srgbClr val="168E7A"/>
                </a:solidFill>
                <a:latin typeface="JetBrains Mono"/>
              </a:rPr>
              <a:t>DIAS 31–60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7F4EF"/>
                </a:solidFill>
                <a:latin typeface="Space Grotesk"/>
              </a:rPr>
              <a:t>Módulo no ar + MVP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5C3BF"/>
                </a:solidFill>
                <a:latin typeface="Space Grotesk"/>
              </a:rPr>
              <a:t>Estreia do módulo na mentoria · desenvolvimento do MVP: venda + cobrança + agente de cobrança primeiro — onde o dinheiro aparece mais rápido.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89900" y="2413000"/>
            <a:ext cx="3302000" cy="11430"/>
          </a:xfrm>
          <a:prstGeom prst="rect">
            <a:avLst/>
          </a:prstGeom>
          <a:solidFill>
            <a:srgbClr val="545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89900" y="2590800"/>
            <a:ext cx="330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00" b="1" spc="160">
                <a:solidFill>
                  <a:srgbClr val="168E7A"/>
                </a:solidFill>
                <a:latin typeface="JetBrains Mono"/>
              </a:rPr>
              <a:t>DIAS 61–90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7F4EF"/>
                </a:solidFill>
                <a:latin typeface="Space Grotesk"/>
              </a:rPr>
              <a:t>Piloto e cases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5C3BF"/>
                </a:solidFill>
                <a:latin typeface="Space Grotesk"/>
              </a:rPr>
              <a:t>Piloto com 3–5 clínicas da própria mentoria, em condição de fundador · primeiros cases de blindagem · esteira módulo → SaaS aberta.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" y="4927600"/>
            <a:ext cx="10591800" cy="11430"/>
          </a:xfrm>
          <a:prstGeom prst="rect">
            <a:avLst/>
          </a:prstGeom>
          <a:solidFill>
            <a:srgbClr val="383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5232400"/>
            <a:ext cx="9652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spc="-5">
                <a:solidFill>
                  <a:srgbClr val="F7F4EF"/>
                </a:solidFill>
                <a:latin typeface="Space Grotesk"/>
              </a:rPr>
              <a:t>REVenue forEVER</a:t>
            </a:r>
            <a:r>
              <a:rPr sz="2200" b="1">
                <a:solidFill>
                  <a:srgbClr val="168E7A"/>
                </a:solidFill>
                <a:latin typeface="Space Grotesk"/>
              </a:rPr>
              <a:t>.</a:t>
            </a:r>
            <a:r>
              <a:rPr sz="2200" b="0" spc="-5">
                <a:solidFill>
                  <a:srgbClr val="A19F9C"/>
                </a:solidFill>
                <a:latin typeface="Space Grotesk"/>
              </a:rPr>
              <a:t>  Agora na veterinária.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6324600"/>
            <a:ext cx="635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6A6967"/>
                </a:solidFill>
                <a:latin typeface="JetBrains Mono"/>
              </a:rPr>
              <a:t>CARLOS GERALDO · THE REVER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0" y="6324600"/>
            <a:ext cx="17399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spc="120">
                <a:solidFill>
                  <a:srgbClr val="6A6967"/>
                </a:solidFill>
                <a:latin typeface="JetBrains Mono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